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28600"/>
            <a:ext cx="932688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3400" b="1">
                <a:solidFill>
                  <a:srgbClr val="27538B"/>
                </a:solidFill>
                <a:latin typeface="Arial"/>
              </a:rPr>
              <a:t>SMART INDIA HACKATHON 2026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09728"/>
            <a:ext cx="1737360" cy="8207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97680" y="987552"/>
            <a:ext cx="347472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800" b="1">
                <a:solidFill>
                  <a:srgbClr val="525252"/>
                </a:solidFill>
                <a:latin typeface="Arial"/>
              </a:rPr>
              <a:t>TITLE PAGE</a:t>
            </a:r>
          </a:p>
        </p:txBody>
      </p:sp>
      <p:pic>
        <p:nvPicPr>
          <p:cNvPr id="11" name="Picture 10" descr="hex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219" y="1393068"/>
            <a:ext cx="3926021" cy="436702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409842"/>
            <a:ext cx="12191695" cy="448158"/>
          </a:xfrm>
          <a:prstGeom prst="rect">
            <a:avLst/>
          </a:prstGeom>
          <a:solidFill>
            <a:srgbClr val="0F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14" name="Group 3">
            <a:extLst>
              <a:ext uri="{FF2B5EF4-FFF2-40B4-BE49-F238E27FC236}">
                <a16:creationId xmlns:a16="http://schemas.microsoft.com/office/drawing/2014/main" id="{A0905A1B-CFFD-2F5D-7BF4-82BA8D0CDCE3}"/>
              </a:ext>
            </a:extLst>
          </p:cNvPr>
          <p:cNvGrpSpPr/>
          <p:nvPr/>
        </p:nvGrpSpPr>
        <p:grpSpPr>
          <a:xfrm>
            <a:off x="7772400" y="1827182"/>
            <a:ext cx="3190568" cy="3699871"/>
            <a:chOff x="0" y="0"/>
            <a:chExt cx="6407023" cy="6852476"/>
          </a:xfrm>
        </p:grpSpPr>
        <p:sp>
          <p:nvSpPr>
            <p:cNvPr id="15" name="Freeform 4">
              <a:extLst>
                <a:ext uri="{FF2B5EF4-FFF2-40B4-BE49-F238E27FC236}">
                  <a16:creationId xmlns:a16="http://schemas.microsoft.com/office/drawing/2014/main" id="{BAE5E2BA-AAA9-FA65-BF76-2AFC7B5BA3FC}"/>
                </a:ext>
              </a:extLst>
            </p:cNvPr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49475" b="-1"/>
              </a:stretch>
            </a:blipFill>
          </p:spPr>
        </p:sp>
      </p:grpSp>
      <p:sp>
        <p:nvSpPr>
          <p:cNvPr id="22" name="TextBox 11">
            <a:extLst>
              <a:ext uri="{FF2B5EF4-FFF2-40B4-BE49-F238E27FC236}">
                <a16:creationId xmlns:a16="http://schemas.microsoft.com/office/drawing/2014/main" id="{DEFE8090-C819-3A2C-1F9F-6DBDD9F465FB}"/>
              </a:ext>
            </a:extLst>
          </p:cNvPr>
          <p:cNvSpPr txBox="1"/>
          <p:nvPr/>
        </p:nvSpPr>
        <p:spPr>
          <a:xfrm>
            <a:off x="487680" y="896112"/>
            <a:ext cx="8489171" cy="5419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250000"/>
              </a:lnSpc>
            </a:pPr>
            <a:endParaRPr dirty="0"/>
          </a:p>
          <a:p>
            <a:pPr marL="488637" lvl="1" indent="-244318" algn="just">
              <a:lnSpc>
                <a:spcPct val="250000"/>
              </a:lnSpc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26151</a:t>
            </a:r>
          </a:p>
          <a:p>
            <a:pPr marL="488637" lvl="1" indent="-244318" algn="just">
              <a:lnSpc>
                <a:spcPct val="250000"/>
              </a:lnSpc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Title-Dark web threat actor</a:t>
            </a:r>
          </a:p>
          <a:p>
            <a:pPr algn="just">
              <a:lnSpc>
                <a:spcPct val="250000"/>
              </a:lnSpc>
            </a:pPr>
            <a:r>
              <a:rPr lang="en-US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de-anonymization</a:t>
            </a:r>
          </a:p>
          <a:p>
            <a:pPr marL="488637" lvl="1" indent="-244318" algn="just">
              <a:lnSpc>
                <a:spcPct val="250000"/>
              </a:lnSpc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Blockchain &amp; Cybersecurity</a:t>
            </a:r>
          </a:p>
          <a:p>
            <a:pPr marL="488637" lvl="1" indent="-244318" algn="just">
              <a:lnSpc>
                <a:spcPct val="250000"/>
              </a:lnSpc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marL="488637" lvl="1" indent="-244318" algn="just">
              <a:lnSpc>
                <a:spcPct val="250000"/>
              </a:lnSpc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marL="488637" lvl="1" indent="-244318" algn="just">
              <a:lnSpc>
                <a:spcPct val="250000"/>
              </a:lnSpc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Team-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F1ABFF9-3217-FEAD-BB91-E11837F0CB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7332" y="5961888"/>
            <a:ext cx="2120539" cy="315615"/>
          </a:xfrm>
          <a:prstGeom prst="rect">
            <a:avLst/>
          </a:prstGeom>
        </p:spPr>
      </p:pic>
      <p:grpSp>
        <p:nvGrpSpPr>
          <p:cNvPr id="26" name="Group 10">
            <a:extLst>
              <a:ext uri="{FF2B5EF4-FFF2-40B4-BE49-F238E27FC236}">
                <a16:creationId xmlns:a16="http://schemas.microsoft.com/office/drawing/2014/main" id="{960D1B89-D38F-FD63-5D4D-2F4BDF6CC1F3}"/>
              </a:ext>
            </a:extLst>
          </p:cNvPr>
          <p:cNvGrpSpPr/>
          <p:nvPr/>
        </p:nvGrpSpPr>
        <p:grpSpPr>
          <a:xfrm>
            <a:off x="3451015" y="6250349"/>
            <a:ext cx="4874827" cy="634909"/>
            <a:chOff x="0" y="-116294"/>
            <a:chExt cx="6499769" cy="846544"/>
          </a:xfrm>
        </p:grpSpPr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F2ECA49B-9893-9E96-C062-9EA6CC2D2218}"/>
                </a:ext>
              </a:extLst>
            </p:cNvPr>
            <p:cNvSpPr/>
            <p:nvPr/>
          </p:nvSpPr>
          <p:spPr>
            <a:xfrm>
              <a:off x="91769" y="-116294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28" name="TextBox 12">
              <a:extLst>
                <a:ext uri="{FF2B5EF4-FFF2-40B4-BE49-F238E27FC236}">
                  <a16:creationId xmlns:a16="http://schemas.microsoft.com/office/drawing/2014/main" id="{097BD5CB-9350-E1E8-F417-77D4A37EC87A}"/>
                </a:ext>
              </a:extLst>
            </p:cNvPr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Bennett </a:t>
              </a:r>
              <a:r>
                <a:rPr lang="en-US" sz="14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University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Sep 13, 2026, 10_44_56 AM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grpSp>
        <p:nvGrpSpPr>
          <p:cNvPr id="3" name="Group 10">
            <a:extLst>
              <a:ext uri="{FF2B5EF4-FFF2-40B4-BE49-F238E27FC236}">
                <a16:creationId xmlns:a16="http://schemas.microsoft.com/office/drawing/2014/main" id="{DEAA16A2-52EA-B40A-B76A-838DB4443DF8}"/>
              </a:ext>
            </a:extLst>
          </p:cNvPr>
          <p:cNvGrpSpPr/>
          <p:nvPr/>
        </p:nvGrpSpPr>
        <p:grpSpPr>
          <a:xfrm>
            <a:off x="3451015" y="6250349"/>
            <a:ext cx="4874827" cy="634909"/>
            <a:chOff x="0" y="-116294"/>
            <a:chExt cx="6499769" cy="846544"/>
          </a:xfrm>
        </p:grpSpPr>
        <p:sp>
          <p:nvSpPr>
            <p:cNvPr id="4" name="Freeform 11">
              <a:extLst>
                <a:ext uri="{FF2B5EF4-FFF2-40B4-BE49-F238E27FC236}">
                  <a16:creationId xmlns:a16="http://schemas.microsoft.com/office/drawing/2014/main" id="{960E113A-0E7D-6713-2555-FE1949175D0D}"/>
                </a:ext>
              </a:extLst>
            </p:cNvPr>
            <p:cNvSpPr/>
            <p:nvPr/>
          </p:nvSpPr>
          <p:spPr>
            <a:xfrm>
              <a:off x="91769" y="-116294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5" name="TextBox 12">
              <a:extLst>
                <a:ext uri="{FF2B5EF4-FFF2-40B4-BE49-F238E27FC236}">
                  <a16:creationId xmlns:a16="http://schemas.microsoft.com/office/drawing/2014/main" id="{0AB7565B-AE51-FD01-96A2-849E2A8FB862}"/>
                </a:ext>
              </a:extLst>
            </p:cNvPr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Bennett </a:t>
              </a:r>
              <a:r>
                <a:rPr lang="en-US" sz="14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University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01168" y="164592"/>
            <a:ext cx="1143000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300" b="0">
                <a:solidFill>
                  <a:srgbClr val="525252"/>
                </a:solidFill>
                <a:latin typeface="Arial"/>
              </a:rPr>
              <a:t>Vulkans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64592"/>
            <a:ext cx="80467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3000" b="0">
                <a:solidFill>
                  <a:srgbClr val="525252"/>
                </a:solidFill>
                <a:latin typeface="Arial"/>
              </a:rPr>
              <a:t>TECHNICAL APPROACH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73152"/>
            <a:ext cx="1600200" cy="7559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F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67160" y="6437376"/>
            <a:ext cx="27432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200" b="0">
                <a:solidFill>
                  <a:srgbClr val="525252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41148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50" b="1">
                <a:solidFill>
                  <a:srgbClr val="0F7EC2"/>
                </a:solidFill>
                <a:latin typeface="Arial"/>
              </a:rPr>
              <a:t>IMPLEMENTATION 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52144"/>
            <a:ext cx="2743200" cy="22860"/>
          </a:xfrm>
          <a:prstGeom prst="rect">
            <a:avLst/>
          </a:prstGeom>
          <a:solidFill>
            <a:srgbClr val="0F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0040" y="1325880"/>
            <a:ext cx="1965960" cy="914400"/>
          </a:xfrm>
          <a:prstGeom prst="roundRect">
            <a:avLst/>
          </a:prstGeom>
          <a:solidFill>
            <a:srgbClr val="FAEED8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350" b="1">
                <a:solidFill>
                  <a:srgbClr val="525252"/>
                </a:solidFill>
                <a:latin typeface="Arial"/>
              </a:rPr>
              <a:t>Collect</a:t>
            </a:r>
            <a:br/>
            <a:r>
              <a:rPr sz="1350" b="1">
                <a:solidFill>
                  <a:srgbClr val="525252"/>
                </a:solidFill>
                <a:latin typeface="Arial"/>
              </a:rPr>
              <a:t>Dark web + clearnet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1572768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500" b="1">
                <a:solidFill>
                  <a:srgbClr val="0F7EC2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325880"/>
            <a:ext cx="1965960" cy="914400"/>
          </a:xfrm>
          <a:prstGeom prst="roundRect">
            <a:avLst/>
          </a:prstGeom>
          <a:solidFill>
            <a:srgbClr val="E0F4F2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350" b="1">
                <a:solidFill>
                  <a:srgbClr val="525252"/>
                </a:solidFill>
                <a:latin typeface="Arial"/>
              </a:rPr>
              <a:t>Correlate</a:t>
            </a:r>
            <a:br/>
            <a:r>
              <a:rPr sz="1350" b="1">
                <a:solidFill>
                  <a:srgbClr val="525252"/>
                </a:solidFill>
                <a:latin typeface="Arial"/>
              </a:rPr>
              <a:t>Aliases • PGP • wallets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572768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500" b="1">
                <a:solidFill>
                  <a:srgbClr val="0F7EC2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325880"/>
            <a:ext cx="1965960" cy="914400"/>
          </a:xfrm>
          <a:prstGeom prst="roundRect">
            <a:avLst/>
          </a:prstGeom>
          <a:solidFill>
            <a:srgbClr val="FAE2E8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350" b="1">
                <a:solidFill>
                  <a:srgbClr val="525252"/>
                </a:solidFill>
                <a:latin typeface="Arial"/>
              </a:rPr>
              <a:t>Analyse</a:t>
            </a:r>
            <a:br/>
            <a:r>
              <a:rPr sz="1350" b="1">
                <a:solidFill>
                  <a:srgbClr val="525252"/>
                </a:solidFill>
                <a:latin typeface="Arial"/>
              </a:rPr>
              <a:t>Multi-model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572768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500" b="1">
                <a:solidFill>
                  <a:srgbClr val="0F7EC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325880"/>
            <a:ext cx="1965960" cy="914400"/>
          </a:xfrm>
          <a:prstGeom prst="roundRect">
            <a:avLst/>
          </a:prstGeom>
          <a:solidFill>
            <a:srgbClr val="EBE7F9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350" b="1">
                <a:solidFill>
                  <a:srgbClr val="525252"/>
                </a:solidFill>
                <a:latin typeface="Arial"/>
              </a:rPr>
              <a:t>Map</a:t>
            </a:r>
            <a:br/>
            <a:r>
              <a:rPr sz="1350" b="1">
                <a:solidFill>
                  <a:srgbClr val="525252"/>
                </a:solidFill>
                <a:latin typeface="Arial"/>
              </a:rPr>
              <a:t>Knowledge graph +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1572768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500" b="1">
                <a:solidFill>
                  <a:srgbClr val="0F7EC2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325880"/>
            <a:ext cx="1965960" cy="914400"/>
          </a:xfrm>
          <a:prstGeom prst="roundRect">
            <a:avLst/>
          </a:prstGeom>
          <a:solidFill>
            <a:srgbClr val="E7F4E1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350" b="1">
                <a:solidFill>
                  <a:srgbClr val="525252"/>
                </a:solidFill>
                <a:latin typeface="Arial"/>
              </a:rPr>
              <a:t>Output</a:t>
            </a:r>
            <a:br/>
            <a:r>
              <a:rPr sz="1350" b="1">
                <a:solidFill>
                  <a:srgbClr val="525252"/>
                </a:solidFill>
                <a:latin typeface="Arial"/>
              </a:rPr>
              <a:t>Dashboard • alerts •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514600"/>
            <a:ext cx="27432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50" b="1">
                <a:solidFill>
                  <a:srgbClr val="0F7EC2"/>
                </a:solidFill>
                <a:latin typeface="Arial"/>
              </a:rPr>
              <a:t>SYSTEM 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98064"/>
            <a:ext cx="2743200" cy="22860"/>
          </a:xfrm>
          <a:prstGeom prst="rect">
            <a:avLst/>
          </a:prstGeom>
          <a:solidFill>
            <a:srgbClr val="0F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11480" y="3063240"/>
            <a:ext cx="1554480" cy="960120"/>
          </a:xfrm>
          <a:prstGeom prst="roundRect">
            <a:avLst/>
          </a:prstGeom>
          <a:solidFill>
            <a:srgbClr val="E0F4F2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250" b="1">
                <a:solidFill>
                  <a:srgbClr val="525252"/>
                </a:solidFill>
                <a:latin typeface="Arial"/>
              </a:rPr>
              <a:t>Secure Automated</a:t>
            </a:r>
            <a:br/>
            <a:r>
              <a:rPr sz="1250" b="1">
                <a:solidFill>
                  <a:srgbClr val="525252"/>
                </a:solidFill>
                <a:latin typeface="Arial"/>
              </a:rPr>
              <a:t>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4248" y="3374136"/>
            <a:ext cx="3200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50" b="1">
                <a:solidFill>
                  <a:srgbClr val="0F7EC2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3063240"/>
            <a:ext cx="1554480" cy="960120"/>
          </a:xfrm>
          <a:prstGeom prst="roundRect">
            <a:avLst/>
          </a:prstGeom>
          <a:solidFill>
            <a:srgbClr val="FAE2E8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250" b="1">
                <a:solidFill>
                  <a:srgbClr val="525252"/>
                </a:solidFill>
                <a:latin typeface="Arial"/>
              </a:rPr>
              <a:t>Profile</a:t>
            </a:r>
            <a:br/>
            <a:r>
              <a:rPr sz="1250" b="1">
                <a:solidFill>
                  <a:srgbClr val="525252"/>
                </a:solidFill>
                <a:latin typeface="Arial"/>
              </a:rPr>
              <a:t>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4487" y="3374136"/>
            <a:ext cx="3200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50" b="1">
                <a:solidFill>
                  <a:srgbClr val="0F7EC2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063240"/>
            <a:ext cx="1554480" cy="960120"/>
          </a:xfrm>
          <a:prstGeom prst="roundRect">
            <a:avLst/>
          </a:prstGeom>
          <a:solidFill>
            <a:srgbClr val="EBE7F9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250" b="1">
                <a:solidFill>
                  <a:srgbClr val="525252"/>
                </a:solidFill>
                <a:latin typeface="Arial"/>
              </a:rPr>
              <a:t>Multi-Model</a:t>
            </a:r>
            <a:br/>
            <a:r>
              <a:rPr sz="1250" b="1">
                <a:solidFill>
                  <a:srgbClr val="525252"/>
                </a:solidFill>
                <a:latin typeface="Arial"/>
              </a:rPr>
              <a:t>AI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4728" y="3374136"/>
            <a:ext cx="3200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50" b="1">
                <a:solidFill>
                  <a:srgbClr val="0F7EC2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063240"/>
            <a:ext cx="1554480" cy="960120"/>
          </a:xfrm>
          <a:prstGeom prst="roundRect">
            <a:avLst/>
          </a:prstGeom>
          <a:solidFill>
            <a:srgbClr val="E7F4E1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250" b="1">
                <a:solidFill>
                  <a:srgbClr val="525252"/>
                </a:solidFill>
                <a:latin typeface="Arial"/>
              </a:rPr>
              <a:t>Knowledge Graph</a:t>
            </a:r>
            <a:br/>
            <a:r>
              <a:rPr sz="1250" b="1">
                <a:solidFill>
                  <a:srgbClr val="525252"/>
                </a:solidFill>
                <a:latin typeface="Arial"/>
              </a:rPr>
              <a:t>Construction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97680"/>
            <a:ext cx="7040880" cy="9144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50" b="0">
                <a:solidFill>
                  <a:srgbClr val="232323"/>
                </a:solidFill>
                <a:latin typeface="Arial"/>
              </a:rPr>
              <a:t>Sources are collected securely, entities are extracted into profiles, AI analyses patterns and threat signals, and connected evidence is stored as a knowledge graph with confidence scores.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514600"/>
            <a:ext cx="32004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50" b="1">
                <a:solidFill>
                  <a:srgbClr val="0F7EC2"/>
                </a:solidFill>
                <a:latin typeface="Arial"/>
              </a:rPr>
              <a:t>TECHNOLOGY STACK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2798064"/>
            <a:ext cx="2743200" cy="22860"/>
          </a:xfrm>
          <a:prstGeom prst="rect">
            <a:avLst/>
          </a:prstGeom>
          <a:solidFill>
            <a:srgbClr val="0F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092440" y="2907792"/>
            <a:ext cx="3611880" cy="475488"/>
          </a:xfrm>
          <a:prstGeom prst="roundRect">
            <a:avLst/>
          </a:prstGeom>
          <a:solidFill>
            <a:srgbClr val="EFF7FC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79" y="2971800"/>
            <a:ext cx="105156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1">
                <a:solidFill>
                  <a:srgbClr val="525252"/>
                </a:solidFill>
                <a:latin typeface="Arial"/>
              </a:rP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2971800"/>
            <a:ext cx="23317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Arial"/>
              </a:rPr>
              <a:t>Electron • React • TypeScript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429000"/>
            <a:ext cx="3611880" cy="475488"/>
          </a:xfrm>
          <a:prstGeom prst="roundRect">
            <a:avLst/>
          </a:prstGeom>
          <a:solidFill>
            <a:srgbClr val="EFF7FC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83879" y="3493008"/>
            <a:ext cx="105156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1">
                <a:solidFill>
                  <a:srgbClr val="525252"/>
                </a:solidFill>
                <a:latin typeface="Arial"/>
              </a:rPr>
              <a:t>Core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3493008"/>
            <a:ext cx="23317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Arial"/>
              </a:rPr>
              <a:t>Go — crawling &amp; concurrent collection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3950208"/>
            <a:ext cx="3611880" cy="475488"/>
          </a:xfrm>
          <a:prstGeom prst="roundRect">
            <a:avLst/>
          </a:prstGeom>
          <a:solidFill>
            <a:srgbClr val="EFF7FC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83879" y="4014216"/>
            <a:ext cx="105156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1">
                <a:solidFill>
                  <a:srgbClr val="525252"/>
                </a:solidFill>
                <a:latin typeface="Arial"/>
              </a:rPr>
              <a:t>AI Backend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728" y="4014216"/>
            <a:ext cx="23317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Arial"/>
              </a:rPr>
              <a:t>Python • FastAPI • PyTorch • Transformers • LLMs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4471416"/>
            <a:ext cx="3611880" cy="475488"/>
          </a:xfrm>
          <a:prstGeom prst="roundRect">
            <a:avLst/>
          </a:prstGeom>
          <a:solidFill>
            <a:srgbClr val="EFF7FC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4535424"/>
            <a:ext cx="105156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1">
                <a:solidFill>
                  <a:srgbClr val="525252"/>
                </a:solidFill>
                <a:latin typeface="Arial"/>
              </a:rPr>
              <a:t>Data Layer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4535424"/>
            <a:ext cx="23317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Arial"/>
              </a:rPr>
              <a:t>Neo4j • PostgreSQL • Elasticsearch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4992624"/>
            <a:ext cx="3611880" cy="475488"/>
          </a:xfrm>
          <a:prstGeom prst="roundRect">
            <a:avLst/>
          </a:prstGeom>
          <a:solidFill>
            <a:srgbClr val="EFF7FC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83879" y="5056632"/>
            <a:ext cx="105156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1">
                <a:solidFill>
                  <a:srgbClr val="525252"/>
                </a:solidFill>
                <a:latin typeface="Arial"/>
              </a:rPr>
              <a:t>Collection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3728" y="5056632"/>
            <a:ext cx="23317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Arial"/>
              </a:rPr>
              <a:t>Tor proxy • OSINT APIs • web crawlers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5513831"/>
            <a:ext cx="3611880" cy="475488"/>
          </a:xfrm>
          <a:prstGeom prst="roundRect">
            <a:avLst/>
          </a:prstGeom>
          <a:solidFill>
            <a:srgbClr val="EFF7FC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5577840"/>
            <a:ext cx="105156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1">
                <a:solidFill>
                  <a:srgbClr val="525252"/>
                </a:solidFill>
                <a:latin typeface="Arial"/>
              </a:rPr>
              <a:t>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53728" y="5577840"/>
            <a:ext cx="23317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Arial"/>
              </a:rPr>
              <a:t>Docker • VPS • optional NVIDIA GPU</a:t>
            </a:r>
          </a:p>
        </p:txBody>
      </p:sp>
      <p:grpSp>
        <p:nvGrpSpPr>
          <p:cNvPr id="48" name="Group 10">
            <a:extLst>
              <a:ext uri="{FF2B5EF4-FFF2-40B4-BE49-F238E27FC236}">
                <a16:creationId xmlns:a16="http://schemas.microsoft.com/office/drawing/2014/main" id="{D37D8E99-0BE8-010F-47C9-6C7843BBE5CA}"/>
              </a:ext>
            </a:extLst>
          </p:cNvPr>
          <p:cNvGrpSpPr/>
          <p:nvPr/>
        </p:nvGrpSpPr>
        <p:grpSpPr>
          <a:xfrm>
            <a:off x="3451015" y="6250349"/>
            <a:ext cx="4874827" cy="634909"/>
            <a:chOff x="0" y="-116294"/>
            <a:chExt cx="6499769" cy="846544"/>
          </a:xfrm>
        </p:grpSpPr>
        <p:sp>
          <p:nvSpPr>
            <p:cNvPr id="49" name="Freeform 11">
              <a:extLst>
                <a:ext uri="{FF2B5EF4-FFF2-40B4-BE49-F238E27FC236}">
                  <a16:creationId xmlns:a16="http://schemas.microsoft.com/office/drawing/2014/main" id="{CC21416B-E7E1-2CF6-4E11-03182683A2F2}"/>
                </a:ext>
              </a:extLst>
            </p:cNvPr>
            <p:cNvSpPr/>
            <p:nvPr/>
          </p:nvSpPr>
          <p:spPr>
            <a:xfrm>
              <a:off x="91769" y="-116294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50" name="TextBox 12">
              <a:extLst>
                <a:ext uri="{FF2B5EF4-FFF2-40B4-BE49-F238E27FC236}">
                  <a16:creationId xmlns:a16="http://schemas.microsoft.com/office/drawing/2014/main" id="{D6A301F1-281B-A9C8-0665-B8D464709384}"/>
                </a:ext>
              </a:extLst>
            </p:cNvPr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Bennett </a:t>
              </a:r>
              <a:r>
                <a:rPr lang="en-US" sz="14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University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01168" y="164592"/>
            <a:ext cx="1143000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300" b="0">
                <a:solidFill>
                  <a:srgbClr val="525252"/>
                </a:solidFill>
                <a:latin typeface="Arial"/>
              </a:rPr>
              <a:t>Vulkans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64592"/>
            <a:ext cx="80467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3000" b="0">
                <a:solidFill>
                  <a:srgbClr val="525252"/>
                </a:solidFill>
                <a:latin typeface="Arial"/>
              </a:rPr>
              <a:t>FEASIBILITY AND VIABILITY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73152"/>
            <a:ext cx="1600200" cy="7559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67160" y="6437376"/>
            <a:ext cx="27432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200" b="0">
                <a:solidFill>
                  <a:srgbClr val="525252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24128"/>
            <a:ext cx="21945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850" b="0">
                <a:solidFill>
                  <a:srgbClr val="8066A4"/>
                </a:solidFill>
                <a:latin typeface="Arial"/>
              </a:rPr>
              <a:t>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024128"/>
            <a:ext cx="42976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850" b="0">
                <a:solidFill>
                  <a:srgbClr val="8066A4"/>
                </a:solidFill>
                <a:latin typeface="Arial"/>
              </a:rPr>
              <a:t>Potential risks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923544"/>
            <a:ext cx="32004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850" b="0" dirty="0">
                <a:solidFill>
                  <a:srgbClr val="8066A4"/>
                </a:solidFill>
                <a:latin typeface="Arial"/>
              </a:rPr>
              <a:t>Strategies to Overcome Challenges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1508760"/>
            <a:ext cx="2834640" cy="1188720"/>
          </a:xfrm>
          <a:prstGeom prst="roundRect">
            <a:avLst/>
          </a:prstGeom>
          <a:solidFill>
            <a:srgbClr val="EBE7F9"/>
          </a:solidFill>
          <a:ln w="16510">
            <a:solidFill>
              <a:srgbClr val="A0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673351"/>
            <a:ext cx="24688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50" b="1">
                <a:solidFill>
                  <a:srgbClr val="3A4B73"/>
                </a:solidFill>
                <a:latin typeface="Arial"/>
              </a:rPr>
              <a:t>Open-source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011680"/>
            <a:ext cx="242316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250" b="0">
                <a:solidFill>
                  <a:srgbClr val="525252"/>
                </a:solidFill>
                <a:latin typeface="Arial"/>
              </a:rPr>
              <a:t>Electron • Go • Python • Tor • Neo4j •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2834639"/>
            <a:ext cx="2834640" cy="1188720"/>
          </a:xfrm>
          <a:prstGeom prst="roundRect">
            <a:avLst/>
          </a:prstGeom>
          <a:solidFill>
            <a:srgbClr val="E7F4E1"/>
          </a:solidFill>
          <a:ln w="16510">
            <a:solidFill>
              <a:srgbClr val="A0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2999232"/>
            <a:ext cx="24688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50" b="1">
                <a:solidFill>
                  <a:srgbClr val="3A4B73"/>
                </a:solidFill>
                <a:latin typeface="Arial"/>
              </a:rPr>
              <a:t>Modular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337559"/>
            <a:ext cx="242316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250" b="0">
                <a:solidFill>
                  <a:srgbClr val="525252"/>
                </a:solidFill>
                <a:latin typeface="Arial"/>
              </a:rPr>
              <a:t>Phased development, testing &amp; scaling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4160520"/>
            <a:ext cx="2834640" cy="1188720"/>
          </a:xfrm>
          <a:prstGeom prst="roundRect">
            <a:avLst/>
          </a:prstGeom>
          <a:solidFill>
            <a:srgbClr val="EBF4FA"/>
          </a:solidFill>
          <a:ln w="16510">
            <a:solidFill>
              <a:srgbClr val="A0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4325112"/>
            <a:ext cx="24688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50" b="1">
                <a:solidFill>
                  <a:srgbClr val="3A4B73"/>
                </a:solidFill>
                <a:latin typeface="Arial"/>
              </a:rP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663440"/>
            <a:ext cx="242316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250" b="0">
                <a:solidFill>
                  <a:srgbClr val="525252"/>
                </a:solidFill>
                <a:latin typeface="Arial"/>
              </a:rPr>
              <a:t>Standard servers; GPU optional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1572768"/>
            <a:ext cx="2240280" cy="1508760"/>
          </a:xfrm>
          <a:prstGeom prst="roundRect">
            <a:avLst/>
          </a:prstGeom>
          <a:solidFill>
            <a:srgbClr val="FAEED8"/>
          </a:solidFill>
          <a:ln w="16510">
            <a:solidFill>
              <a:srgbClr val="FAE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93592" y="1737360"/>
            <a:ext cx="1874519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50" b="1">
                <a:solidFill>
                  <a:srgbClr val="37465F"/>
                </a:solidFill>
                <a:latin typeface="Arial"/>
              </a:rPr>
              <a:t>Unstable dark-web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2194560"/>
            <a:ext cx="1874519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0">
                <a:solidFill>
                  <a:srgbClr val="525252"/>
                </a:solidFill>
                <a:latin typeface="Arial"/>
              </a:rPr>
              <a:t>Monitoring • retries • source archiving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80" y="1572768"/>
            <a:ext cx="2240280" cy="1508760"/>
          </a:xfrm>
          <a:prstGeom prst="roundRect">
            <a:avLst/>
          </a:prstGeom>
          <a:solidFill>
            <a:srgbClr val="E0F4F2"/>
          </a:solidFill>
          <a:ln w="16510">
            <a:solidFill>
              <a:srgbClr val="E0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62472" y="1737360"/>
            <a:ext cx="1874519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50" b="1">
                <a:solidFill>
                  <a:srgbClr val="37465F"/>
                </a:solidFill>
                <a:latin typeface="Arial"/>
              </a:rPr>
              <a:t>False links / deceptive identities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2472" y="2194560"/>
            <a:ext cx="1874519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0">
                <a:solidFill>
                  <a:srgbClr val="525252"/>
                </a:solidFill>
                <a:latin typeface="Arial"/>
              </a:rPr>
              <a:t>Multi-source verification • confidence • human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3337560"/>
            <a:ext cx="2240280" cy="1508760"/>
          </a:xfrm>
          <a:prstGeom prst="roundRect">
            <a:avLst/>
          </a:prstGeom>
          <a:solidFill>
            <a:srgbClr val="FAE2E8"/>
          </a:solidFill>
          <a:ln w="16510">
            <a:solidFill>
              <a:srgbClr val="F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93592" y="3502152"/>
            <a:ext cx="1874519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50" b="1">
                <a:solidFill>
                  <a:srgbClr val="37465F"/>
                </a:solidFill>
                <a:latin typeface="Arial"/>
              </a:rPr>
              <a:t>AI errors / hallucinations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3959352"/>
            <a:ext cx="1874519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0">
                <a:solidFill>
                  <a:srgbClr val="525252"/>
                </a:solidFill>
                <a:latin typeface="Arial"/>
              </a:rPr>
              <a:t>Evidence grounding • cross-validation • audit trails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3337560"/>
            <a:ext cx="2240280" cy="1508760"/>
          </a:xfrm>
          <a:prstGeom prst="roundRect">
            <a:avLst/>
          </a:prstGeom>
          <a:solidFill>
            <a:srgbClr val="EBE7F9"/>
          </a:solidFill>
          <a:ln w="16510">
            <a:solidFill>
              <a:srgbClr val="EB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62472" y="3502152"/>
            <a:ext cx="1874519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50" b="1">
                <a:solidFill>
                  <a:srgbClr val="37465F"/>
                </a:solidFill>
                <a:latin typeface="Arial"/>
              </a:rPr>
              <a:t>Legal / privacy + sensitive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3959352"/>
            <a:ext cx="1874519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0">
                <a:solidFill>
                  <a:srgbClr val="525252"/>
                </a:solidFill>
                <a:latin typeface="Arial"/>
              </a:rPr>
              <a:t>RBAC • lawful-source policies • encryption • access logs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1572768"/>
            <a:ext cx="2423160" cy="502920"/>
          </a:xfrm>
          <a:prstGeom prst="roundRect">
            <a:avLst/>
          </a:prstGeom>
          <a:solidFill>
            <a:srgbClr val="E0F4F2"/>
          </a:solidFill>
          <a:ln w="16510">
            <a:solidFill>
              <a:srgbClr val="A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150" b="0" dirty="0">
                <a:solidFill>
                  <a:srgbClr val="525252"/>
                </a:solidFill>
                <a:latin typeface="Arial"/>
              </a:rPr>
              <a:t>Monitor sources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2368" y="2075688"/>
            <a:ext cx="457200" cy="2103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750" b="1">
                <a:solidFill>
                  <a:srgbClr val="8066A4"/>
                </a:solidFill>
                <a:latin typeface="Arial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2331720"/>
            <a:ext cx="2423160" cy="502920"/>
          </a:xfrm>
          <a:prstGeom prst="roundRect">
            <a:avLst/>
          </a:prstGeom>
          <a:solidFill>
            <a:srgbClr val="FAE2E8"/>
          </a:solidFill>
          <a:ln w="16510">
            <a:solidFill>
              <a:srgbClr val="A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150" b="0">
                <a:solidFill>
                  <a:srgbClr val="525252"/>
                </a:solidFill>
                <a:latin typeface="Arial"/>
              </a:rPr>
              <a:t>Verify across sources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2834639"/>
            <a:ext cx="457200" cy="2103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750" b="1">
                <a:solidFill>
                  <a:srgbClr val="8066A4"/>
                </a:solidFill>
                <a:latin typeface="Arial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3090672"/>
            <a:ext cx="2423160" cy="502920"/>
          </a:xfrm>
          <a:prstGeom prst="roundRect">
            <a:avLst/>
          </a:prstGeom>
          <a:solidFill>
            <a:srgbClr val="EBE7F9"/>
          </a:solidFill>
          <a:ln w="16510">
            <a:solidFill>
              <a:srgbClr val="A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150" b="0">
                <a:solidFill>
                  <a:srgbClr val="525252"/>
                </a:solidFill>
                <a:latin typeface="Arial"/>
              </a:rPr>
              <a:t>AI grounded in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8" y="3593591"/>
            <a:ext cx="457200" cy="2103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750" b="1">
                <a:solidFill>
                  <a:srgbClr val="8066A4"/>
                </a:solidFill>
                <a:latin typeface="Arial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60" y="3849624"/>
            <a:ext cx="2423160" cy="502920"/>
          </a:xfrm>
          <a:prstGeom prst="roundRect">
            <a:avLst/>
          </a:prstGeom>
          <a:solidFill>
            <a:srgbClr val="E7F4E1"/>
          </a:solidFill>
          <a:ln w="16510">
            <a:solidFill>
              <a:srgbClr val="A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150" b="0">
                <a:solidFill>
                  <a:srgbClr val="525252"/>
                </a:solidFill>
                <a:latin typeface="Arial"/>
              </a:rPr>
              <a:t>Human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4352544"/>
            <a:ext cx="457200" cy="2103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750" b="1">
                <a:solidFill>
                  <a:srgbClr val="8066A4"/>
                </a:solidFill>
                <a:latin typeface="Arial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23960" y="4608576"/>
            <a:ext cx="2423160" cy="502920"/>
          </a:xfrm>
          <a:prstGeom prst="roundRect">
            <a:avLst/>
          </a:prstGeom>
          <a:solidFill>
            <a:srgbClr val="EBF4FA"/>
          </a:solidFill>
          <a:ln w="16510">
            <a:solidFill>
              <a:srgbClr val="A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150" b="0">
                <a:solidFill>
                  <a:srgbClr val="525252"/>
                </a:solidFill>
                <a:latin typeface="Arial"/>
              </a:rPr>
              <a:t>Secure audited 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5623560"/>
            <a:ext cx="30175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150" b="1">
                <a:solidFill>
                  <a:srgbClr val="525252"/>
                </a:solidFill>
                <a:latin typeface="Arial"/>
              </a:rPr>
              <a:t>VIABILITY: Focused prototype → secure organization-level threat-intelligence platform</a:t>
            </a:r>
          </a:p>
        </p:txBody>
      </p:sp>
      <p:grpSp>
        <p:nvGrpSpPr>
          <p:cNvPr id="41" name="Group 10">
            <a:extLst>
              <a:ext uri="{FF2B5EF4-FFF2-40B4-BE49-F238E27FC236}">
                <a16:creationId xmlns:a16="http://schemas.microsoft.com/office/drawing/2014/main" id="{CD98EF94-CBED-BF76-0F58-B4752E94ACCE}"/>
              </a:ext>
            </a:extLst>
          </p:cNvPr>
          <p:cNvGrpSpPr/>
          <p:nvPr/>
        </p:nvGrpSpPr>
        <p:grpSpPr>
          <a:xfrm>
            <a:off x="3451015" y="6250349"/>
            <a:ext cx="4874827" cy="634909"/>
            <a:chOff x="0" y="-116294"/>
            <a:chExt cx="6499769" cy="846544"/>
          </a:xfrm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2C2839E8-D919-C3A3-D69B-2A51AA146FD2}"/>
                </a:ext>
              </a:extLst>
            </p:cNvPr>
            <p:cNvSpPr/>
            <p:nvPr/>
          </p:nvSpPr>
          <p:spPr>
            <a:xfrm>
              <a:off x="91769" y="-116294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43" name="TextBox 12">
              <a:extLst>
                <a:ext uri="{FF2B5EF4-FFF2-40B4-BE49-F238E27FC236}">
                  <a16:creationId xmlns:a16="http://schemas.microsoft.com/office/drawing/2014/main" id="{F6127711-0E66-8446-A327-B5DD50C977BD}"/>
                </a:ext>
              </a:extLst>
            </p:cNvPr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Bennett </a:t>
              </a:r>
              <a:r>
                <a:rPr lang="en-US" sz="14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University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01168" y="164592"/>
            <a:ext cx="1143000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300" b="0">
                <a:solidFill>
                  <a:srgbClr val="525252"/>
                </a:solidFill>
                <a:latin typeface="Arial"/>
              </a:rPr>
              <a:t>Vulkans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64592"/>
            <a:ext cx="80467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3000" b="0">
                <a:solidFill>
                  <a:srgbClr val="525252"/>
                </a:solidFill>
                <a:latin typeface="Arial"/>
              </a:rPr>
              <a:t>IMPACT AND BENEFITS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73152"/>
            <a:ext cx="1600200" cy="7559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67160" y="6437376"/>
            <a:ext cx="27432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200" b="0">
                <a:solidFill>
                  <a:srgbClr val="525252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841248"/>
            <a:ext cx="9555480" cy="438912"/>
          </a:xfrm>
          <a:prstGeom prst="roundRect">
            <a:avLst/>
          </a:prstGeom>
          <a:solidFill>
            <a:srgbClr val="F2F4FC"/>
          </a:solidFill>
          <a:ln w="16510">
            <a:solidFill>
              <a:srgbClr val="D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350" b="1">
                <a:solidFill>
                  <a:srgbClr val="505F7D"/>
                </a:solidFill>
                <a:latin typeface="Arial"/>
              </a:rPr>
              <a:t>From scattered clues → evidence-linked, actionable threat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53312"/>
            <a:ext cx="31089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50" b="1">
                <a:solidFill>
                  <a:srgbClr val="0F7EC2"/>
                </a:solidFill>
                <a:latin typeface="Arial"/>
              </a:rPr>
              <a:t>POTENTIAL IMPACT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1755648"/>
            <a:ext cx="2240280" cy="1024128"/>
          </a:xfrm>
          <a:prstGeom prst="roundRect">
            <a:avLst/>
          </a:prstGeom>
          <a:solidFill>
            <a:srgbClr val="FAEED8"/>
          </a:solidFill>
          <a:ln w="16510">
            <a:solidFill>
              <a:srgbClr val="D2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35607" y="1856231"/>
            <a:ext cx="3200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200" b="1">
                <a:solidFill>
                  <a:srgbClr val="525252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47088"/>
            <a:ext cx="14630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>
                <a:solidFill>
                  <a:srgbClr val="525252"/>
                </a:solidFill>
                <a:latin typeface="Arial"/>
              </a:rPr>
              <a:t>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76272"/>
            <a:ext cx="1874519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30" b="0">
                <a:solidFill>
                  <a:srgbClr val="525252"/>
                </a:solidFill>
                <a:latin typeface="Arial"/>
              </a:rPr>
              <a:t>Identify &amp; track threat 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1" y="2084831"/>
            <a:ext cx="36576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50" b="1">
                <a:solidFill>
                  <a:srgbClr val="BECDDC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1755648"/>
            <a:ext cx="2240280" cy="1024128"/>
          </a:xfrm>
          <a:prstGeom prst="roundRect">
            <a:avLst/>
          </a:prstGeom>
          <a:solidFill>
            <a:srgbClr val="E0F4F2"/>
          </a:solidFill>
          <a:ln w="16510">
            <a:solidFill>
              <a:srgbClr val="D2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04488" y="1856231"/>
            <a:ext cx="3200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200" b="1">
                <a:solidFill>
                  <a:srgbClr val="525252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847088"/>
            <a:ext cx="14630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>
                <a:solidFill>
                  <a:srgbClr val="525252"/>
                </a:solidFill>
                <a:latin typeface="Arial"/>
              </a:rPr>
              <a:t>CORRELATE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9352" y="2176272"/>
            <a:ext cx="1874519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30" b="0">
                <a:solidFill>
                  <a:srgbClr val="525252"/>
                </a:solidFill>
                <a:latin typeface="Arial"/>
              </a:rPr>
              <a:t>Scattered data → linked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2084831"/>
            <a:ext cx="36576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50" b="1">
                <a:solidFill>
                  <a:srgbClr val="BECDDC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55648"/>
            <a:ext cx="2240280" cy="1024128"/>
          </a:xfrm>
          <a:prstGeom prst="roundRect">
            <a:avLst/>
          </a:prstGeom>
          <a:solidFill>
            <a:srgbClr val="FAE2E8"/>
          </a:solidFill>
          <a:ln w="16510">
            <a:solidFill>
              <a:srgbClr val="D2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1856231"/>
            <a:ext cx="3200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200" b="1">
                <a:solidFill>
                  <a:srgbClr val="525252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847088"/>
            <a:ext cx="14630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>
                <a:solidFill>
                  <a:srgbClr val="525252"/>
                </a:solidFill>
                <a:latin typeface="Arial"/>
              </a:rPr>
              <a:t>ASSESS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176272"/>
            <a:ext cx="1874519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30" b="0">
                <a:solidFill>
                  <a:srgbClr val="525252"/>
                </a:solidFill>
                <a:latin typeface="Arial"/>
              </a:rPr>
              <a:t>AI correlation + confidence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2084831"/>
            <a:ext cx="36576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50" b="1">
                <a:solidFill>
                  <a:srgbClr val="BECDDC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1755648"/>
            <a:ext cx="2240280" cy="1024128"/>
          </a:xfrm>
          <a:prstGeom prst="roundRect">
            <a:avLst/>
          </a:prstGeom>
          <a:solidFill>
            <a:srgbClr val="EBE7F9"/>
          </a:solidFill>
          <a:ln w="16510">
            <a:solidFill>
              <a:srgbClr val="D2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42248" y="1856231"/>
            <a:ext cx="3200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200" b="1">
                <a:solidFill>
                  <a:srgbClr val="525252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847088"/>
            <a:ext cx="14630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>
                <a:solidFill>
                  <a:srgbClr val="525252"/>
                </a:solidFill>
                <a:latin typeface="Arial"/>
              </a:rPr>
              <a:t>DETECT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2176272"/>
            <a:ext cx="1874519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30" b="0">
                <a:solidFill>
                  <a:srgbClr val="525252"/>
                </a:solidFill>
                <a:latin typeface="Arial"/>
              </a:rPr>
              <a:t>Cybercrime • illicit trade • fraud • terror financing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999232"/>
            <a:ext cx="30175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50" b="1">
                <a:solidFill>
                  <a:srgbClr val="0F7EC2"/>
                </a:solidFill>
                <a:latin typeface="Arial"/>
              </a:rPr>
              <a:t>WHY IT MATTERS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401568"/>
            <a:ext cx="2057400" cy="1143000"/>
          </a:xfrm>
          <a:prstGeom prst="roundRect">
            <a:avLst/>
          </a:prstGeom>
          <a:solidFill>
            <a:srgbClr val="E0F4F2"/>
          </a:solidFill>
          <a:ln w="16510"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8" y="3566160"/>
            <a:ext cx="17830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150" b="1">
                <a:solidFill>
                  <a:srgbClr val="415050"/>
                </a:solidFill>
                <a:latin typeface="Arial"/>
              </a:rPr>
              <a:t>SOCIAL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3931920"/>
            <a:ext cx="178308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0">
                <a:solidFill>
                  <a:srgbClr val="525252"/>
                </a:solidFill>
                <a:latin typeface="Arial"/>
              </a:rPr>
              <a:t>Protects citizens &amp; organizations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71215" y="3401568"/>
            <a:ext cx="2057400" cy="1143000"/>
          </a:xfrm>
          <a:prstGeom prst="roundRect">
            <a:avLst/>
          </a:prstGeom>
          <a:solidFill>
            <a:srgbClr val="FAE2E8"/>
          </a:solidFill>
          <a:ln w="16510"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08375" y="3566160"/>
            <a:ext cx="17830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150" b="1">
                <a:solidFill>
                  <a:srgbClr val="415050"/>
                </a:solidFill>
                <a:latin typeface="Arial"/>
              </a:rPr>
              <a:t>ECONOMIC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8375" y="3931920"/>
            <a:ext cx="178308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0">
                <a:solidFill>
                  <a:srgbClr val="525252"/>
                </a:solidFill>
                <a:latin typeface="Arial"/>
              </a:rPr>
              <a:t>Reduces losses &amp; investigation costs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84064" y="3401568"/>
            <a:ext cx="2057400" cy="1143000"/>
          </a:xfrm>
          <a:prstGeom prst="roundRect">
            <a:avLst/>
          </a:prstGeom>
          <a:solidFill>
            <a:srgbClr val="EBE7F9"/>
          </a:solidFill>
          <a:ln w="16510"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21224" y="3566160"/>
            <a:ext cx="17830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150" b="1">
                <a:solidFill>
                  <a:srgbClr val="415050"/>
                </a:solidFill>
                <a:latin typeface="Arial"/>
              </a:rPr>
              <a:t>OPERATIONAL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21224" y="3931920"/>
            <a:ext cx="178308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0">
                <a:solidFill>
                  <a:srgbClr val="525252"/>
                </a:solidFill>
                <a:latin typeface="Arial"/>
              </a:rPr>
              <a:t>Saves analyst time; faster decisions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96912" y="3401568"/>
            <a:ext cx="2057400" cy="1143000"/>
          </a:xfrm>
          <a:prstGeom prst="roundRect">
            <a:avLst/>
          </a:prstGeom>
          <a:solidFill>
            <a:srgbClr val="E7F4E1"/>
          </a:solidFill>
          <a:ln w="16510"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34071" y="3566160"/>
            <a:ext cx="17830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150" b="1">
                <a:solidFill>
                  <a:srgbClr val="415050"/>
                </a:solidFill>
                <a:latin typeface="Arial"/>
              </a:rPr>
              <a:t>NATIONAL 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4071" y="3931920"/>
            <a:ext cx="178308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0">
                <a:solidFill>
                  <a:srgbClr val="525252"/>
                </a:solidFill>
                <a:latin typeface="Arial"/>
              </a:rPr>
              <a:t>Stronger monitoring &amp; intelligence sharing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0" y="3401568"/>
            <a:ext cx="2057400" cy="1143000"/>
          </a:xfrm>
          <a:prstGeom prst="roundRect">
            <a:avLst/>
          </a:prstGeom>
          <a:solidFill>
            <a:srgbClr val="EBF4FA"/>
          </a:solidFill>
          <a:ln w="16510">
            <a:solidFill>
              <a:srgbClr val="C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46920" y="3566160"/>
            <a:ext cx="17830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150" b="1">
                <a:solidFill>
                  <a:srgbClr val="415050"/>
                </a:solidFill>
                <a:latin typeface="Arial"/>
              </a:rPr>
              <a:t>EFFICIENCY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3931920"/>
            <a:ext cx="178308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0">
                <a:solidFill>
                  <a:srgbClr val="525252"/>
                </a:solidFill>
                <a:latin typeface="Arial"/>
              </a:rPr>
              <a:t>Scalable processing reduces unnecessary compute/storage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4828032"/>
            <a:ext cx="33832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50" b="1">
                <a:solidFill>
                  <a:srgbClr val="0F7EC2"/>
                </a:solidFill>
                <a:latin typeface="Arial"/>
              </a:rPr>
              <a:t>EXPECTED IMPACT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25880" y="5230368"/>
            <a:ext cx="2240280" cy="566928"/>
          </a:xfrm>
          <a:prstGeom prst="roundRect">
            <a:avLst/>
          </a:prstGeom>
          <a:solidFill>
            <a:srgbClr val="7566BE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Faster investigations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3048" y="5230368"/>
            <a:ext cx="2240280" cy="566928"/>
          </a:xfrm>
          <a:prstGeom prst="roundRect">
            <a:avLst/>
          </a:prstGeom>
          <a:solidFill>
            <a:srgbClr val="53A8B4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Evidence-linked output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0216" y="5230368"/>
            <a:ext cx="2240280" cy="566928"/>
          </a:xfrm>
          <a:prstGeom prst="roundRect">
            <a:avLst/>
          </a:prstGeom>
          <a:solidFill>
            <a:srgbClr val="7566BE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Explainable confidence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87384" y="5230368"/>
            <a:ext cx="2240280" cy="566928"/>
          </a:xfrm>
          <a:prstGeom prst="roundRect">
            <a:avLst/>
          </a:prstGeom>
          <a:solidFill>
            <a:srgbClr val="53A8B4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Scalable architecture</a:t>
            </a:r>
          </a:p>
        </p:txBody>
      </p:sp>
      <p:grpSp>
        <p:nvGrpSpPr>
          <p:cNvPr id="49" name="Group 10">
            <a:extLst>
              <a:ext uri="{FF2B5EF4-FFF2-40B4-BE49-F238E27FC236}">
                <a16:creationId xmlns:a16="http://schemas.microsoft.com/office/drawing/2014/main" id="{E6D38E72-BC17-66C3-FFF2-E7165ECED279}"/>
              </a:ext>
            </a:extLst>
          </p:cNvPr>
          <p:cNvGrpSpPr/>
          <p:nvPr/>
        </p:nvGrpSpPr>
        <p:grpSpPr>
          <a:xfrm>
            <a:off x="3451015" y="6250349"/>
            <a:ext cx="4874827" cy="634909"/>
            <a:chOff x="0" y="-116294"/>
            <a:chExt cx="6499769" cy="846544"/>
          </a:xfrm>
        </p:grpSpPr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FCEB8870-8978-2971-1FD1-D3AB64D27654}"/>
                </a:ext>
              </a:extLst>
            </p:cNvPr>
            <p:cNvSpPr/>
            <p:nvPr/>
          </p:nvSpPr>
          <p:spPr>
            <a:xfrm>
              <a:off x="91769" y="-116294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51" name="TextBox 12">
              <a:extLst>
                <a:ext uri="{FF2B5EF4-FFF2-40B4-BE49-F238E27FC236}">
                  <a16:creationId xmlns:a16="http://schemas.microsoft.com/office/drawing/2014/main" id="{2C601E54-0565-3668-BB68-505E6EC687D7}"/>
                </a:ext>
              </a:extLst>
            </p:cNvPr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Bennett </a:t>
              </a:r>
              <a:r>
                <a:rPr lang="en-US" sz="14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University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01168" y="164592"/>
            <a:ext cx="1143000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300" b="0">
                <a:solidFill>
                  <a:srgbClr val="525252"/>
                </a:solidFill>
                <a:latin typeface="Arial"/>
              </a:rPr>
              <a:t>Vulkans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64592"/>
            <a:ext cx="80467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3000" b="0">
                <a:solidFill>
                  <a:srgbClr val="525252"/>
                </a:solidFill>
                <a:latin typeface="Arial"/>
              </a:rPr>
              <a:t>RESEARCH AND RESOURCES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73152"/>
            <a:ext cx="1600200" cy="7559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67160" y="6437376"/>
            <a:ext cx="27432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200" b="0">
                <a:solidFill>
                  <a:srgbClr val="525252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41248"/>
            <a:ext cx="38404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50" b="1">
                <a:solidFill>
                  <a:srgbClr val="0F7EC2"/>
                </a:solidFill>
                <a:latin typeface="Arial"/>
              </a:rPr>
              <a:t>01  RESEARCH &amp; 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24712"/>
            <a:ext cx="2743200" cy="22860"/>
          </a:xfrm>
          <a:prstGeom prst="rect">
            <a:avLst/>
          </a:prstGeom>
          <a:solidFill>
            <a:srgbClr val="0F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0040" y="1298448"/>
            <a:ext cx="4617720" cy="658368"/>
          </a:xfrm>
          <a:prstGeom prst="roundRect">
            <a:avLst/>
          </a:prstGeom>
          <a:solidFill>
            <a:srgbClr val="F7E8E8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508760" cy="2103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1">
                <a:solidFill>
                  <a:srgbClr val="525252"/>
                </a:solidFill>
                <a:latin typeface="Arial"/>
              </a:rPr>
              <a:t>EUROPOL IOCTA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371600"/>
            <a:ext cx="288036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50" b="0">
                <a:solidFill>
                  <a:srgbClr val="525252"/>
                </a:solidFill>
                <a:latin typeface="Arial"/>
              </a:rPr>
              <a:t>Cybercrime trends, dark-web and cybercrime enablers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636776"/>
            <a:ext cx="28803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50" b="0">
                <a:solidFill>
                  <a:srgbClr val="1E55AF"/>
                </a:solidFill>
                <a:latin typeface="Arial"/>
              </a:rPr>
              <a:t>europol.europa.eu/.../iocta-report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011680"/>
            <a:ext cx="4617720" cy="658368"/>
          </a:xfrm>
          <a:prstGeom prst="roundRect">
            <a:avLst/>
          </a:prstGeom>
          <a:solidFill>
            <a:srgbClr val="EBF6F9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084832"/>
            <a:ext cx="1508760" cy="2103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1">
                <a:solidFill>
                  <a:srgbClr val="525252"/>
                </a:solidFill>
                <a:latin typeface="Arial"/>
              </a:rPr>
              <a:t>TOR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084832"/>
            <a:ext cx="288036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50" b="0">
                <a:solidFill>
                  <a:srgbClr val="525252"/>
                </a:solidFill>
                <a:latin typeface="Arial"/>
              </a:rPr>
              <a:t>Onion-service architecture, privacy features and protocols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350008"/>
            <a:ext cx="28803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50" b="0" dirty="0">
                <a:solidFill>
                  <a:srgbClr val="1E55AF"/>
                </a:solidFill>
                <a:latin typeface="Arial"/>
              </a:rPr>
              <a:t>community.torproject.org/onion-services/overview/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724912"/>
            <a:ext cx="4617720" cy="658368"/>
          </a:xfrm>
          <a:prstGeom prst="roundRect">
            <a:avLst/>
          </a:prstGeom>
          <a:solidFill>
            <a:srgbClr val="F7E8E8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98064"/>
            <a:ext cx="1508760" cy="2103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1">
                <a:solidFill>
                  <a:srgbClr val="525252"/>
                </a:solidFill>
                <a:latin typeface="Arial"/>
              </a:rPr>
              <a:t>VERIDARK — NEURIPS 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798064"/>
            <a:ext cx="288036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50" b="0">
                <a:solidFill>
                  <a:srgbClr val="525252"/>
                </a:solidFill>
                <a:latin typeface="Arial"/>
              </a:rPr>
              <a:t>Cross-platform dark-web persona / author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063240"/>
            <a:ext cx="28803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50" b="0">
                <a:solidFill>
                  <a:srgbClr val="1E55AF"/>
                </a:solidFill>
                <a:latin typeface="Arial"/>
              </a:rPr>
              <a:t>proceedings.neurips.cc — VeriDark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3438144"/>
            <a:ext cx="4617720" cy="658368"/>
          </a:xfrm>
          <a:prstGeom prst="roundRect">
            <a:avLst/>
          </a:prstGeom>
          <a:solidFill>
            <a:srgbClr val="EBF6F9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511296"/>
            <a:ext cx="1508760" cy="2103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1">
                <a:solidFill>
                  <a:srgbClr val="525252"/>
                </a:solidFill>
                <a:latin typeface="Arial"/>
              </a:rPr>
              <a:t>DARKBERT — ACL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511296"/>
            <a:ext cx="288036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50" b="0">
                <a:solidFill>
                  <a:srgbClr val="525252"/>
                </a:solidFill>
                <a:latin typeface="Arial"/>
              </a:rPr>
              <a:t>Dark-web language and textual-pattern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776472"/>
            <a:ext cx="28803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50" b="0">
                <a:solidFill>
                  <a:srgbClr val="1E55AF"/>
                </a:solidFill>
                <a:latin typeface="Arial"/>
              </a:rPr>
              <a:t>aclanthology.org/2023.acl-long.415/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4151376"/>
            <a:ext cx="4617720" cy="658368"/>
          </a:xfrm>
          <a:prstGeom prst="roundRect">
            <a:avLst/>
          </a:prstGeom>
          <a:solidFill>
            <a:srgbClr val="F7E8E8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224528"/>
            <a:ext cx="1508760" cy="2103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1">
                <a:solidFill>
                  <a:srgbClr val="525252"/>
                </a:solidFill>
                <a:latin typeface="Arial"/>
              </a:rPr>
              <a:t>MITRE ATT&amp;CK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224528"/>
            <a:ext cx="288036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50" b="0">
                <a:solidFill>
                  <a:srgbClr val="525252"/>
                </a:solidFill>
                <a:latin typeface="Arial"/>
              </a:rPr>
              <a:t>Mapping observed adversary tactics and techniques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489704"/>
            <a:ext cx="28803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50" b="0">
                <a:solidFill>
                  <a:srgbClr val="1E55AF"/>
                </a:solidFill>
                <a:latin typeface="Arial"/>
              </a:rPr>
              <a:t>attack.mitre.org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864608"/>
            <a:ext cx="4617720" cy="658368"/>
          </a:xfrm>
          <a:prstGeom prst="roundRect">
            <a:avLst/>
          </a:prstGeom>
          <a:solidFill>
            <a:srgbClr val="EBF6F9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937760"/>
            <a:ext cx="1508760" cy="2103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1">
                <a:solidFill>
                  <a:srgbClr val="525252"/>
                </a:solidFill>
                <a:latin typeface="Arial"/>
              </a:rPr>
              <a:t>NEO4J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4937760"/>
            <a:ext cx="288036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50" b="0">
                <a:solidFill>
                  <a:srgbClr val="525252"/>
                </a:solidFill>
                <a:latin typeface="Arial"/>
              </a:rPr>
              <a:t>Connected entities and relationships in knowledge graphs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5202936"/>
            <a:ext cx="28803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50" b="0">
                <a:solidFill>
                  <a:srgbClr val="1E55AF"/>
                </a:solidFill>
                <a:latin typeface="Arial"/>
              </a:rPr>
              <a:t>neo4j.com/product/neo4j-graph-database/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841248"/>
            <a:ext cx="45720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50" b="1">
                <a:solidFill>
                  <a:srgbClr val="0F7EC2"/>
                </a:solidFill>
                <a:latin typeface="Arial"/>
              </a:rPr>
              <a:t>02  HOW RESEARCH BECOMES DEIMOS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1124712"/>
            <a:ext cx="2743200" cy="22860"/>
          </a:xfrm>
          <a:prstGeom prst="rect">
            <a:avLst/>
          </a:prstGeom>
          <a:solidFill>
            <a:srgbClr val="0F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257800" y="1508760"/>
            <a:ext cx="1234440" cy="1005840"/>
          </a:xfrm>
          <a:prstGeom prst="roundRect">
            <a:avLst/>
          </a:prstGeom>
          <a:solidFill>
            <a:srgbClr val="FAE2E8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30952" y="1627632"/>
            <a:ext cx="1078992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19" b="1">
                <a:solidFill>
                  <a:srgbClr val="525252"/>
                </a:solidFill>
                <a:latin typeface="Arial"/>
              </a:rPr>
              <a:t>SOURCES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0952" y="1938528"/>
            <a:ext cx="1078992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950" b="0">
                <a:solidFill>
                  <a:srgbClr val="525252"/>
                </a:solidFill>
                <a:latin typeface="Arial"/>
              </a:rPr>
              <a:t>Europol • Tor</a:t>
            </a:r>
            <a:br/>
            <a:r>
              <a:rPr sz="950" b="0">
                <a:solidFill>
                  <a:srgbClr val="525252"/>
                </a:solidFill>
                <a:latin typeface="Arial"/>
              </a:rPr>
              <a:t>research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1384" y="1856231"/>
            <a:ext cx="256032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850" b="1">
                <a:solidFill>
                  <a:srgbClr val="BECDDC"/>
                </a:solidFill>
                <a:latin typeface="Arial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02552" y="1508760"/>
            <a:ext cx="1234440" cy="1005840"/>
          </a:xfrm>
          <a:prstGeom prst="roundRect">
            <a:avLst/>
          </a:prstGeom>
          <a:solidFill>
            <a:srgbClr val="EBE7F9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75704" y="1627632"/>
            <a:ext cx="1078992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19" b="1">
                <a:solidFill>
                  <a:srgbClr val="525252"/>
                </a:solidFill>
                <a:latin typeface="Arial"/>
              </a:rPr>
              <a:t>TEXT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75704" y="1938528"/>
            <a:ext cx="1078992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950" b="0">
                <a:solidFill>
                  <a:srgbClr val="525252"/>
                </a:solidFill>
                <a:latin typeface="Arial"/>
              </a:rPr>
              <a:t>VeriDark •</a:t>
            </a:r>
            <a:br/>
            <a:r>
              <a:rPr sz="950" b="0">
                <a:solidFill>
                  <a:srgbClr val="525252"/>
                </a:solidFill>
                <a:latin typeface="Arial"/>
              </a:rPr>
              <a:t>DarkBERT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46136" y="1856231"/>
            <a:ext cx="256032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850" b="1">
                <a:solidFill>
                  <a:srgbClr val="BECDDC"/>
                </a:solidFill>
                <a:latin typeface="Arial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47304" y="1508760"/>
            <a:ext cx="1234440" cy="1005840"/>
          </a:xfrm>
          <a:prstGeom prst="roundRect">
            <a:avLst/>
          </a:prstGeom>
          <a:solidFill>
            <a:srgbClr val="E7F4E1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0456" y="1627632"/>
            <a:ext cx="1078992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19" b="1">
                <a:solidFill>
                  <a:srgbClr val="525252"/>
                </a:solidFill>
                <a:latin typeface="Arial"/>
              </a:rPr>
              <a:t>BEHAVIOUR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0456" y="1938528"/>
            <a:ext cx="1078992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950" b="0">
                <a:solidFill>
                  <a:srgbClr val="525252"/>
                </a:solidFill>
                <a:latin typeface="Arial"/>
              </a:rPr>
              <a:t>MITRE ATT&amp;CK</a:t>
            </a:r>
            <a:br/>
            <a:r>
              <a:rPr sz="950" b="0">
                <a:solidFill>
                  <a:srgbClr val="525252"/>
                </a:solidFill>
                <a:latin typeface="Arial"/>
              </a:rPr>
              <a:t>mapping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0888" y="1856231"/>
            <a:ext cx="256032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850" b="1">
                <a:solidFill>
                  <a:srgbClr val="BECDDC"/>
                </a:solidFill>
                <a:latin typeface="Arial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78291" y="1508760"/>
            <a:ext cx="1234440" cy="1005840"/>
          </a:xfrm>
          <a:prstGeom prst="roundRect">
            <a:avLst/>
          </a:prstGeom>
          <a:solidFill>
            <a:srgbClr val="EBF4FA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65208" y="1627632"/>
            <a:ext cx="1078992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19" b="1">
                <a:solidFill>
                  <a:srgbClr val="525252"/>
                </a:solidFill>
                <a:latin typeface="Arial"/>
              </a:rPr>
              <a:t>GRAPH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65208" y="1938528"/>
            <a:ext cx="1078992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950" b="0">
                <a:solidFill>
                  <a:srgbClr val="525252"/>
                </a:solidFill>
                <a:latin typeface="Arial"/>
              </a:rPr>
              <a:t>Neo4j entity</a:t>
            </a:r>
            <a:br/>
            <a:r>
              <a:rPr sz="950" b="0">
                <a:solidFill>
                  <a:srgbClr val="525252"/>
                </a:solidFill>
                <a:latin typeface="Arial"/>
              </a:rPr>
              <a:t>relationships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35640" y="1856231"/>
            <a:ext cx="256032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850" b="1">
                <a:solidFill>
                  <a:srgbClr val="BECDDC"/>
                </a:solidFill>
                <a:latin typeface="Arial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913413" y="1508760"/>
            <a:ext cx="1234440" cy="1005840"/>
          </a:xfrm>
          <a:prstGeom prst="roundRect">
            <a:avLst/>
          </a:prstGeom>
          <a:solidFill>
            <a:srgbClr val="FAEED8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109960" y="1627632"/>
            <a:ext cx="1078992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19" b="1">
                <a:solidFill>
                  <a:srgbClr val="525252"/>
                </a:solidFill>
                <a:latin typeface="Arial"/>
              </a:rPr>
              <a:t>OUTPUT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9960" y="1938528"/>
            <a:ext cx="1078992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950" b="0">
                <a:solidFill>
                  <a:srgbClr val="525252"/>
                </a:solidFill>
                <a:latin typeface="Arial"/>
              </a:rPr>
              <a:t>Evidence +</a:t>
            </a:r>
            <a:br/>
            <a:r>
              <a:rPr sz="950" b="0">
                <a:solidFill>
                  <a:srgbClr val="525252"/>
                </a:solidFill>
                <a:latin typeface="Arial"/>
              </a:rPr>
              <a:t>confidence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0" y="2907792"/>
            <a:ext cx="41148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50" b="1">
                <a:solidFill>
                  <a:srgbClr val="0F7EC2"/>
                </a:solidFill>
                <a:latin typeface="Arial"/>
              </a:rPr>
              <a:t>03  ENGINEERING FOUNDATION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03520" y="3191256"/>
            <a:ext cx="2743200" cy="22860"/>
          </a:xfrm>
          <a:prstGeom prst="rect">
            <a:avLst/>
          </a:prstGeom>
          <a:solidFill>
            <a:srgbClr val="0F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5303520" y="3337560"/>
            <a:ext cx="5806440" cy="960120"/>
          </a:xfrm>
          <a:prstGeom prst="roundRect">
            <a:avLst/>
          </a:prstGeom>
          <a:solidFill>
            <a:srgbClr val="FAEBDB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0" y="3502152"/>
            <a:ext cx="544068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50" b="1">
                <a:solidFill>
                  <a:srgbClr val="525252"/>
                </a:solidFill>
                <a:latin typeface="Arial"/>
              </a:rPr>
              <a:t>EXPLAINABLE THREAT-INTELLIGENCE PIPELINE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0" y="3822191"/>
            <a:ext cx="54406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50" b="0">
                <a:solidFill>
                  <a:srgbClr val="525252"/>
                </a:solidFill>
                <a:latin typeface="Arial"/>
              </a:rPr>
              <a:t>Secure collection • multi-model AI • confidence scoring • knowledge graph • human validation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4572000"/>
            <a:ext cx="32004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50" b="1">
                <a:solidFill>
                  <a:srgbClr val="0F7EC2"/>
                </a:solidFill>
                <a:latin typeface="Arial"/>
              </a:rPr>
              <a:t>04  CORE PRINCIPLE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4855464"/>
            <a:ext cx="2743200" cy="22860"/>
          </a:xfrm>
          <a:prstGeom prst="rect">
            <a:avLst/>
          </a:prstGeom>
          <a:solidFill>
            <a:srgbClr val="0F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303520" y="4983480"/>
            <a:ext cx="5806440" cy="777240"/>
          </a:xfrm>
          <a:prstGeom prst="roundRect">
            <a:avLst/>
          </a:prstGeom>
          <a:solidFill>
            <a:srgbClr val="E8F6F8"/>
          </a:solidFill>
          <a:ln w="16510">
            <a:solidFill>
              <a:srgbClr val="49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ctr"/>
            <a:r>
              <a:rPr sz="1250" b="1">
                <a:solidFill>
                  <a:srgbClr val="525252"/>
                </a:solidFill>
                <a:latin typeface="Arial"/>
              </a:rPr>
              <a:t>AI assists correlation; evidence, confidence and human validation keep attribution accountable.</a:t>
            </a:r>
          </a:p>
        </p:txBody>
      </p:sp>
      <p:grpSp>
        <p:nvGrpSpPr>
          <p:cNvPr id="62" name="Group 10">
            <a:extLst>
              <a:ext uri="{FF2B5EF4-FFF2-40B4-BE49-F238E27FC236}">
                <a16:creationId xmlns:a16="http://schemas.microsoft.com/office/drawing/2014/main" id="{B2C46872-9ABC-9F3B-CF4E-62051167CCBB}"/>
              </a:ext>
            </a:extLst>
          </p:cNvPr>
          <p:cNvGrpSpPr/>
          <p:nvPr/>
        </p:nvGrpSpPr>
        <p:grpSpPr>
          <a:xfrm>
            <a:off x="3451015" y="6250349"/>
            <a:ext cx="4874827" cy="634909"/>
            <a:chOff x="0" y="-116294"/>
            <a:chExt cx="6499769" cy="846544"/>
          </a:xfrm>
        </p:grpSpPr>
        <p:sp>
          <p:nvSpPr>
            <p:cNvPr id="63" name="Freeform 11">
              <a:extLst>
                <a:ext uri="{FF2B5EF4-FFF2-40B4-BE49-F238E27FC236}">
                  <a16:creationId xmlns:a16="http://schemas.microsoft.com/office/drawing/2014/main" id="{2E9F3142-BA03-2CB2-A4B0-C71B7B7C8F99}"/>
                </a:ext>
              </a:extLst>
            </p:cNvPr>
            <p:cNvSpPr/>
            <p:nvPr/>
          </p:nvSpPr>
          <p:spPr>
            <a:xfrm>
              <a:off x="91769" y="-116294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64" name="TextBox 12">
              <a:extLst>
                <a:ext uri="{FF2B5EF4-FFF2-40B4-BE49-F238E27FC236}">
                  <a16:creationId xmlns:a16="http://schemas.microsoft.com/office/drawing/2014/main" id="{69F7B4CA-1606-FBDA-58E4-7EE4E684B324}"/>
                </a:ext>
              </a:extLst>
            </p:cNvPr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Bennett </a:t>
              </a:r>
              <a:r>
                <a:rPr lang="en-US" sz="14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University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581</Words>
  <Application>Microsoft Office PowerPoint</Application>
  <PresentationFormat>Widescreen</PresentationFormat>
  <Paragraphs>159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Bold</vt:lpstr>
      <vt:lpstr>Arimo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Vaibhav Sunola</dc:creator>
  <cp:keywords/>
  <dc:description>generated using python-pptx</dc:description>
  <cp:lastModifiedBy>Vaibhav Sunola</cp:lastModifiedBy>
  <cp:revision>2</cp:revision>
  <dcterms:created xsi:type="dcterms:W3CDTF">2013-01-27T09:14:16Z</dcterms:created>
  <dcterms:modified xsi:type="dcterms:W3CDTF">2026-09-13T05:56:16Z</dcterms:modified>
  <cp:category/>
</cp:coreProperties>
</file>