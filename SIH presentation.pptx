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al Bold" panose="020B0704020202020204" pitchFamily="34" charset="0"/>
      <p:regular r:id="rId9"/>
      <p:bold r:id="rId10"/>
    </p:embeddedFont>
    <p:embeddedFont>
      <p:font typeface="Arimo" panose="020B0604020202020204" charset="0"/>
      <p:regular r:id="rId11"/>
    </p:embeddedFont>
    <p:embeddedFont>
      <p:font typeface="Arimo Bold" panose="020B0604020202020204" charset="0"/>
      <p:regular r:id="rId12"/>
    </p:embeddedFont>
    <p:embeddedFont>
      <p:font typeface="Calibri (MS)" panose="020B0604020202020204" charset="0"/>
      <p:regular r:id="rId13"/>
    </p:embeddedFont>
    <p:embeddedFont>
      <p:font typeface="Garamond Bold" panose="02020804030307010803" pitchFamily="18" charset="0"/>
      <p:regular r:id="rId14"/>
      <p:bold r:id="rId15"/>
    </p:embeddedFont>
    <p:embeddedFont>
      <p:font typeface="Times New Roman Bold" panose="02020803070505020304" pitchFamily="18"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hyperlink" Target="https://proceedings.neurips.cc/paper_files/paper/2022/hash/64008fa30cba9b4d1ab1bd3bd3d57d61-Abstract-Datasets_and_Benchmarks.html" TargetMode="External"/><Relationship Id="rId3" Type="http://schemas.openxmlformats.org/officeDocument/2006/relationships/image" Target="../media/image3.jpeg"/><Relationship Id="rId7" Type="http://schemas.openxmlformats.org/officeDocument/2006/relationships/hyperlink" Target="https://community.torproject.org/onion-services/overview/"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www.europol.europa.eu/publications-events/main-reports/iocta-report" TargetMode="External"/><Relationship Id="rId11" Type="http://schemas.openxmlformats.org/officeDocument/2006/relationships/hyperlink" Target="https://neo4j.com/product/neo4j-graph-database/" TargetMode="External"/><Relationship Id="rId5" Type="http://schemas.openxmlformats.org/officeDocument/2006/relationships/image" Target="../media/image17.svg"/><Relationship Id="rId10" Type="http://schemas.openxmlformats.org/officeDocument/2006/relationships/hyperlink" Target="https://attack.mitre.org/" TargetMode="External"/><Relationship Id="rId4" Type="http://schemas.openxmlformats.org/officeDocument/2006/relationships/image" Target="../media/image4.png"/><Relationship Id="rId9" Type="http://schemas.openxmlformats.org/officeDocument/2006/relationships/hyperlink" Target="https://aclanthology.org/2023.acl-long.4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165" y="1277283"/>
            <a:ext cx="6957908" cy="7732452"/>
          </a:xfrm>
          <a:custGeom>
            <a:avLst/>
            <a:gdLst/>
            <a:ahLst/>
            <a:cxnLst/>
            <a:rect l="l" t="t" r="r" b="b"/>
            <a:pathLst>
              <a:path w="6957908" h="7732452">
                <a:moveTo>
                  <a:pt x="0" y="0"/>
                </a:moveTo>
                <a:lnTo>
                  <a:pt x="6957908" y="0"/>
                </a:lnTo>
                <a:lnTo>
                  <a:pt x="6957908" y="7732453"/>
                </a:lnTo>
                <a:lnTo>
                  <a:pt x="0" y="773245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282333" y="2573817"/>
            <a:ext cx="4805267" cy="5139357"/>
            <a:chOff x="0" y="0"/>
            <a:chExt cx="6407023" cy="6852476"/>
          </a:xfrm>
        </p:grpSpPr>
        <p:sp>
          <p:nvSpPr>
            <p:cNvPr id="4" name="Freeform 4"/>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3"/>
              <a:stretch>
                <a:fillRect r="-149475" b="-1"/>
              </a:stretch>
            </a:blipFill>
          </p:spPr>
        </p:sp>
      </p:grpSp>
      <p:grpSp>
        <p:nvGrpSpPr>
          <p:cNvPr id="5" name="Group 5"/>
          <p:cNvGrpSpPr/>
          <p:nvPr/>
        </p:nvGrpSpPr>
        <p:grpSpPr>
          <a:xfrm>
            <a:off x="496929" y="-790137"/>
            <a:ext cx="15544800" cy="3114675"/>
            <a:chOff x="0" y="0"/>
            <a:chExt cx="20726400" cy="4152900"/>
          </a:xfrm>
        </p:grpSpPr>
        <p:sp>
          <p:nvSpPr>
            <p:cNvPr id="6" name="Freeform 6"/>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4">
                <a:alphaModFix amt="0"/>
              </a:blip>
              <a:stretch>
                <a:fillRect t="-47246" b="-47246"/>
              </a:stretch>
            </a:blipFill>
          </p:spPr>
        </p:sp>
        <p:sp>
          <p:nvSpPr>
            <p:cNvPr id="7" name="TextBox 7"/>
            <p:cNvSpPr txBox="1"/>
            <p:nvPr/>
          </p:nvSpPr>
          <p:spPr>
            <a:xfrm>
              <a:off x="0" y="-19050"/>
              <a:ext cx="20726400" cy="4171950"/>
            </a:xfrm>
            <a:prstGeom prst="rect">
              <a:avLst/>
            </a:prstGeom>
          </p:spPr>
          <p:txBody>
            <a:bodyPr lIns="0" tIns="0" rIns="0" bIns="0" rtlCol="0" anchor="ctr"/>
            <a:lstStyle/>
            <a:p>
              <a:pPr algn="ctr">
                <a:lnSpc>
                  <a:spcPts val="7200"/>
                </a:lnSpc>
              </a:pPr>
              <a:r>
                <a:rPr lang="en-US" sz="6000" b="1">
                  <a:solidFill>
                    <a:srgbClr val="1F497D"/>
                  </a:solidFill>
                  <a:latin typeface="Garamond Bold"/>
                  <a:ea typeface="Garamond Bold"/>
                  <a:cs typeface="Garamond Bold"/>
                  <a:sym typeface="Garamond Bold"/>
                </a:rPr>
                <a:t>SMART INDIA HACKATHON 2026</a:t>
              </a:r>
            </a:p>
          </p:txBody>
        </p:sp>
      </p:grpSp>
      <p:grpSp>
        <p:nvGrpSpPr>
          <p:cNvPr id="8" name="Group 8"/>
          <p:cNvGrpSpPr/>
          <p:nvPr/>
        </p:nvGrpSpPr>
        <p:grpSpPr>
          <a:xfrm>
            <a:off x="14670129" y="2248"/>
            <a:ext cx="3374774" cy="1593504"/>
            <a:chOff x="0" y="0"/>
            <a:chExt cx="4499699" cy="2124672"/>
          </a:xfrm>
        </p:grpSpPr>
        <p:sp>
          <p:nvSpPr>
            <p:cNvPr id="9" name="Freeform 9"/>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5"/>
              <a:stretch>
                <a:fillRect b="1"/>
              </a:stretch>
            </a:blipFill>
          </p:spPr>
        </p:sp>
      </p:grpSp>
      <p:sp>
        <p:nvSpPr>
          <p:cNvPr id="10" name="Freeform 10"/>
          <p:cNvSpPr/>
          <p:nvPr/>
        </p:nvSpPr>
        <p:spPr>
          <a:xfrm>
            <a:off x="2489529" y="8145032"/>
            <a:ext cx="3458816" cy="1729408"/>
          </a:xfrm>
          <a:custGeom>
            <a:avLst/>
            <a:gdLst/>
            <a:ahLst/>
            <a:cxnLst/>
            <a:rect l="l" t="t" r="r" b="b"/>
            <a:pathLst>
              <a:path w="3458816" h="1729408">
                <a:moveTo>
                  <a:pt x="0" y="0"/>
                </a:moveTo>
                <a:lnTo>
                  <a:pt x="3458816" y="0"/>
                </a:lnTo>
                <a:lnTo>
                  <a:pt x="3458816" y="1729408"/>
                </a:lnTo>
                <a:lnTo>
                  <a:pt x="0" y="1729408"/>
                </a:lnTo>
                <a:lnTo>
                  <a:pt x="0" y="0"/>
                </a:lnTo>
                <a:close/>
              </a:path>
            </a:pathLst>
          </a:custGeom>
          <a:blipFill>
            <a:blip r:embed="rId6"/>
            <a:stretch>
              <a:fillRect/>
            </a:stretch>
          </a:blipFill>
        </p:spPr>
      </p:sp>
      <p:sp>
        <p:nvSpPr>
          <p:cNvPr id="11" name="TextBox 11"/>
          <p:cNvSpPr txBox="1"/>
          <p:nvPr/>
        </p:nvSpPr>
        <p:spPr>
          <a:xfrm>
            <a:off x="496929" y="2950845"/>
            <a:ext cx="8703945" cy="6307455"/>
          </a:xfrm>
          <a:prstGeom prst="rect">
            <a:avLst/>
          </a:prstGeom>
        </p:spPr>
        <p:txBody>
          <a:bodyPr lIns="0" tIns="0" rIns="0" bIns="0" rtlCol="0" anchor="t">
            <a:spAutoFit/>
          </a:bodyPr>
          <a:lstStyle/>
          <a:p>
            <a:pPr algn="l">
              <a:lnSpc>
                <a:spcPts val="4320"/>
              </a:lnSpc>
            </a:pPr>
            <a:endParaRPr/>
          </a:p>
          <a:p>
            <a:pPr marL="488637" lvl="1" indent="-244318" algn="just">
              <a:lnSpc>
                <a:spcPts val="6480"/>
              </a:lnSpc>
              <a:buFont typeface="Arial"/>
              <a:buChar char="•"/>
            </a:pPr>
            <a:r>
              <a:rPr lang="en-US" sz="2700" b="1">
                <a:solidFill>
                  <a:srgbClr val="000000"/>
                </a:solidFill>
                <a:latin typeface="Arial Bold"/>
                <a:ea typeface="Arial Bold"/>
                <a:cs typeface="Arial Bold"/>
                <a:sym typeface="Arial Bold"/>
              </a:rPr>
              <a:t>Problem Statement ID – 26151</a:t>
            </a:r>
          </a:p>
          <a:p>
            <a:pPr marL="488637" lvl="1" indent="-244318" algn="just">
              <a:lnSpc>
                <a:spcPts val="6480"/>
              </a:lnSpc>
              <a:buFont typeface="Arial"/>
              <a:buChar char="•"/>
            </a:pPr>
            <a:r>
              <a:rPr lang="en-US" sz="2700" b="1">
                <a:solidFill>
                  <a:srgbClr val="000000"/>
                </a:solidFill>
                <a:latin typeface="Arial Bold"/>
                <a:ea typeface="Arial Bold"/>
                <a:cs typeface="Arial Bold"/>
                <a:sym typeface="Arial Bold"/>
              </a:rPr>
              <a:t>Problem Statement Title-Dark web threat actor</a:t>
            </a:r>
          </a:p>
          <a:p>
            <a:pPr algn="just">
              <a:lnSpc>
                <a:spcPts val="6480"/>
              </a:lnSpc>
            </a:pPr>
            <a:r>
              <a:rPr lang="en-US" sz="2700" b="1">
                <a:solidFill>
                  <a:srgbClr val="000000"/>
                </a:solidFill>
                <a:latin typeface="Arial Bold"/>
                <a:ea typeface="Arial Bold"/>
                <a:cs typeface="Arial Bold"/>
                <a:sym typeface="Arial Bold"/>
              </a:rPr>
              <a:t>     de-anonymization</a:t>
            </a:r>
          </a:p>
          <a:p>
            <a:pPr marL="488637" lvl="1" indent="-244318" algn="just">
              <a:lnSpc>
                <a:spcPts val="6480"/>
              </a:lnSpc>
              <a:buFont typeface="Arial"/>
              <a:buChar char="•"/>
            </a:pPr>
            <a:r>
              <a:rPr lang="en-US" sz="2700" b="1">
                <a:solidFill>
                  <a:srgbClr val="000000"/>
                </a:solidFill>
                <a:latin typeface="Arial Bold"/>
                <a:ea typeface="Arial Bold"/>
                <a:cs typeface="Arial Bold"/>
                <a:sym typeface="Arial Bold"/>
              </a:rPr>
              <a:t>Theme- Blockchain &amp; Cybersecurity</a:t>
            </a:r>
          </a:p>
          <a:p>
            <a:pPr marL="488637" lvl="1" indent="-244318" algn="just">
              <a:lnSpc>
                <a:spcPts val="6480"/>
              </a:lnSpc>
              <a:buFont typeface="Arial"/>
              <a:buChar char="•"/>
            </a:pPr>
            <a:r>
              <a:rPr lang="en-US" sz="2700" b="1">
                <a:solidFill>
                  <a:srgbClr val="000000"/>
                </a:solidFill>
                <a:latin typeface="Arial Bold"/>
                <a:ea typeface="Arial Bold"/>
                <a:cs typeface="Arial Bold"/>
                <a:sym typeface="Arial Bold"/>
              </a:rPr>
              <a:t>PS Category- Software</a:t>
            </a:r>
          </a:p>
          <a:p>
            <a:pPr marL="488637" lvl="1" indent="-244318" algn="just">
              <a:lnSpc>
                <a:spcPts val="6480"/>
              </a:lnSpc>
              <a:buFont typeface="Arial"/>
              <a:buChar char="•"/>
            </a:pPr>
            <a:r>
              <a:rPr lang="en-US" sz="2700" b="1">
                <a:solidFill>
                  <a:srgbClr val="000000"/>
                </a:solidFill>
                <a:latin typeface="Arial Bold"/>
                <a:ea typeface="Arial Bold"/>
                <a:cs typeface="Arial Bold"/>
                <a:sym typeface="Arial Bold"/>
              </a:rPr>
              <a:t>Team ID-</a:t>
            </a:r>
          </a:p>
          <a:p>
            <a:pPr marL="651510" lvl="1" indent="-325755" algn="just">
              <a:lnSpc>
                <a:spcPts val="8640"/>
              </a:lnSpc>
              <a:buFont typeface="Arial"/>
              <a:buChar char="•"/>
            </a:pPr>
            <a:r>
              <a:rPr lang="en-US" sz="3600" b="1">
                <a:solidFill>
                  <a:srgbClr val="000000"/>
                </a:solidFill>
                <a:latin typeface="Arial Bold"/>
                <a:ea typeface="Arial Bold"/>
                <a:cs typeface="Arial Bold"/>
                <a:sym typeface="Arial Bold"/>
              </a:rPr>
              <a:t>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475612" y="-691532"/>
            <a:ext cx="16459200" cy="2299954"/>
            <a:chOff x="0" y="0"/>
            <a:chExt cx="21945600" cy="3066605"/>
          </a:xfrm>
        </p:grpSpPr>
        <p:sp>
          <p:nvSpPr>
            <p:cNvPr id="5" name="Freeform 5"/>
            <p:cNvSpPr/>
            <p:nvPr/>
          </p:nvSpPr>
          <p:spPr>
            <a:xfrm>
              <a:off x="0" y="0"/>
              <a:ext cx="21945600" cy="3066605"/>
            </a:xfrm>
            <a:custGeom>
              <a:avLst/>
              <a:gdLst/>
              <a:ahLst/>
              <a:cxnLst/>
              <a:rect l="l" t="t" r="r" b="b"/>
              <a:pathLst>
                <a:path w="21945600" h="3066605">
                  <a:moveTo>
                    <a:pt x="0" y="0"/>
                  </a:moveTo>
                  <a:lnTo>
                    <a:pt x="21945600" y="0"/>
                  </a:lnTo>
                  <a:lnTo>
                    <a:pt x="21945600" y="3066605"/>
                  </a:lnTo>
                  <a:lnTo>
                    <a:pt x="0" y="3066605"/>
                  </a:lnTo>
                  <a:close/>
                </a:path>
              </a:pathLst>
            </a:custGeom>
            <a:blipFill>
              <a:blip r:embed="rId3">
                <a:alphaModFix amt="0"/>
              </a:blip>
              <a:stretch>
                <a:fillRect t="-102168" b="-76713"/>
              </a:stretch>
            </a:blipFill>
          </p:spPr>
        </p:sp>
        <p:sp>
          <p:nvSpPr>
            <p:cNvPr id="6" name="TextBox 6"/>
            <p:cNvSpPr txBox="1"/>
            <p:nvPr/>
          </p:nvSpPr>
          <p:spPr>
            <a:xfrm>
              <a:off x="0" y="-28575"/>
              <a:ext cx="21945600" cy="3095180"/>
            </a:xfrm>
            <a:prstGeom prst="rect">
              <a:avLst/>
            </a:prstGeom>
          </p:spPr>
          <p:txBody>
            <a:bodyPr lIns="0" tIns="0" rIns="0" bIns="0" rtlCol="0" anchor="ctr"/>
            <a:lstStyle/>
            <a:p>
              <a:pPr algn="ctr">
                <a:lnSpc>
                  <a:spcPts val="6480"/>
                </a:lnSpc>
              </a:pPr>
              <a:endParaRPr/>
            </a:p>
            <a:p>
              <a:pPr algn="ctr">
                <a:lnSpc>
                  <a:spcPts val="6480"/>
                </a:lnSpc>
              </a:pPr>
              <a:r>
                <a:rPr lang="en-US" sz="5400" b="1">
                  <a:solidFill>
                    <a:srgbClr val="545454"/>
                  </a:solidFill>
                  <a:latin typeface="Times New Roman Bold"/>
                  <a:ea typeface="Times New Roman Bold"/>
                  <a:cs typeface="Times New Roman Bold"/>
                  <a:sym typeface="Times New Roman Bold"/>
                </a:rPr>
                <a:t>DEIMOS</a:t>
              </a:r>
            </a:p>
            <a:p>
              <a:pPr algn="ctr">
                <a:lnSpc>
                  <a:spcPts val="3600"/>
                </a:lnSpc>
              </a:pPr>
              <a:r>
                <a:rPr lang="en-US" sz="3000" b="1">
                  <a:solidFill>
                    <a:srgbClr val="545454"/>
                  </a:solidFill>
                  <a:latin typeface="Times New Roman Bold"/>
                  <a:ea typeface="Times New Roman Bold"/>
                  <a:cs typeface="Times New Roman Bold"/>
                  <a:sym typeface="Times New Roman Bold"/>
                </a:rPr>
                <a:t>Dark-web Entity Identification, Mapping &amp; OSINT System</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0" name="Group 10"/>
          <p:cNvGrpSpPr/>
          <p:nvPr/>
        </p:nvGrpSpPr>
        <p:grpSpPr>
          <a:xfrm>
            <a:off x="6101101" y="9532144"/>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Bennett University</a:t>
              </a:r>
            </a:p>
          </p:txBody>
        </p:sp>
      </p:grpSp>
      <p:grpSp>
        <p:nvGrpSpPr>
          <p:cNvPr id="13" name="Group 13"/>
          <p:cNvGrpSpPr/>
          <p:nvPr/>
        </p:nvGrpSpPr>
        <p:grpSpPr>
          <a:xfrm>
            <a:off x="475612" y="359321"/>
            <a:ext cx="1915887" cy="1249101"/>
            <a:chOff x="0" y="0"/>
            <a:chExt cx="2554516" cy="1665468"/>
          </a:xfrm>
        </p:grpSpPr>
        <p:sp>
          <p:nvSpPr>
            <p:cNvPr id="14" name="Freeform 14"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Vulkans </a:t>
              </a:r>
            </a:p>
          </p:txBody>
        </p:sp>
      </p:gr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18" name="Freeform 18"/>
          <p:cNvSpPr/>
          <p:nvPr/>
        </p:nvSpPr>
        <p:spPr>
          <a:xfrm>
            <a:off x="16140344" y="1429614"/>
            <a:ext cx="1904559" cy="1809331"/>
          </a:xfrm>
          <a:custGeom>
            <a:avLst/>
            <a:gdLst/>
            <a:ahLst/>
            <a:cxnLst/>
            <a:rect l="l" t="t" r="r" b="b"/>
            <a:pathLst>
              <a:path w="1904559" h="1809331">
                <a:moveTo>
                  <a:pt x="0" y="0"/>
                </a:moveTo>
                <a:lnTo>
                  <a:pt x="1904559" y="0"/>
                </a:lnTo>
                <a:lnTo>
                  <a:pt x="1904559" y="1809330"/>
                </a:lnTo>
                <a:lnTo>
                  <a:pt x="0" y="180933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0" name="TextBox 25">
            <a:extLst>
              <a:ext uri="{FF2B5EF4-FFF2-40B4-BE49-F238E27FC236}">
                <a16:creationId xmlns:a16="http://schemas.microsoft.com/office/drawing/2014/main" id="{778756D2-F907-233F-55BC-0141AC7CCD09}"/>
              </a:ext>
            </a:extLst>
          </p:cNvPr>
          <p:cNvSpPr txBox="1"/>
          <p:nvPr/>
        </p:nvSpPr>
        <p:spPr>
          <a:xfrm>
            <a:off x="1480685" y="1931530"/>
            <a:ext cx="14449053" cy="2409825"/>
          </a:xfrm>
          <a:prstGeom prst="rect">
            <a:avLst/>
          </a:prstGeom>
        </p:spPr>
        <p:txBody>
          <a:bodyPr lIns="0" tIns="0" rIns="0" bIns="0" rtlCol="0" anchor="t">
            <a:spAutoFit/>
          </a:bodyPr>
          <a:lstStyle/>
          <a:p>
            <a:pPr marL="481561" lvl="1" indent="-240780" algn="l">
              <a:lnSpc>
                <a:spcPts val="3193"/>
              </a:lnSpc>
            </a:pPr>
            <a:r>
              <a:rPr lang="en-US" sz="2660" b="1" u="sng" dirty="0">
                <a:solidFill>
                  <a:srgbClr val="0070C0"/>
                </a:solidFill>
                <a:latin typeface="Arial Bold"/>
                <a:ea typeface="Arial Bold"/>
                <a:cs typeface="Arial Bold"/>
                <a:sym typeface="Arial Bold"/>
              </a:rPr>
              <a:t>Problem </a:t>
            </a:r>
            <a:r>
              <a:rPr lang="en-US" sz="2660" b="1" u="sng" dirty="0" err="1">
                <a:solidFill>
                  <a:srgbClr val="0070C0"/>
                </a:solidFill>
                <a:latin typeface="Arial Bold"/>
                <a:ea typeface="Arial Bold"/>
                <a:cs typeface="Arial Bold"/>
                <a:sym typeface="Arial Bold"/>
              </a:rPr>
              <a:t>Statment</a:t>
            </a:r>
            <a:endParaRPr lang="en-US" sz="2660" b="1" u="sng" dirty="0">
              <a:solidFill>
                <a:srgbClr val="0070C0"/>
              </a:solidFill>
              <a:latin typeface="Arial Bold"/>
              <a:ea typeface="Arial Bold"/>
              <a:cs typeface="Arial Bold"/>
              <a:sym typeface="Arial Bold"/>
            </a:endParaRPr>
          </a:p>
          <a:p>
            <a:pPr marL="481561" lvl="2" indent="-160520" algn="l">
              <a:lnSpc>
                <a:spcPts val="3193"/>
              </a:lnSpc>
              <a:buFont typeface="Arial"/>
              <a:buChar char="⚬"/>
            </a:pPr>
            <a:r>
              <a:rPr lang="en-US" sz="2660" dirty="0">
                <a:solidFill>
                  <a:srgbClr val="545454"/>
                </a:solidFill>
                <a:latin typeface="Arial"/>
                <a:ea typeface="Arial"/>
                <a:cs typeface="Arial"/>
                <a:sym typeface="Arial"/>
              </a:rPr>
              <a:t>The dark web enables threat actors to hide their identities through Tor hidden services, making attribution difficult. It facilitates illegal activities such as drug and arms trafficking, stolen data, hacking services, money laundering, and terror financing.</a:t>
            </a:r>
          </a:p>
          <a:p>
            <a:pPr algn="just">
              <a:lnSpc>
                <a:spcPts val="3193"/>
              </a:lnSpc>
            </a:pPr>
            <a:endParaRPr lang="en-US" sz="2660" dirty="0">
              <a:solidFill>
                <a:srgbClr val="545454"/>
              </a:solidFill>
              <a:latin typeface="Arial"/>
              <a:ea typeface="Arial"/>
              <a:cs typeface="Arial"/>
              <a:sym typeface="Arial"/>
            </a:endParaRPr>
          </a:p>
          <a:p>
            <a:pPr algn="just">
              <a:lnSpc>
                <a:spcPts val="3193"/>
              </a:lnSpc>
            </a:pPr>
            <a:r>
              <a:rPr lang="en-US" sz="2660" dirty="0">
                <a:solidFill>
                  <a:srgbClr val="000000"/>
                </a:solidFill>
                <a:latin typeface="Arial"/>
                <a:ea typeface="Arial"/>
                <a:cs typeface="Arial"/>
                <a:sym typeface="Arial"/>
              </a:rPr>
              <a:t>     </a:t>
            </a:r>
          </a:p>
        </p:txBody>
      </p:sp>
      <p:grpSp>
        <p:nvGrpSpPr>
          <p:cNvPr id="61" name="Group 19">
            <a:extLst>
              <a:ext uri="{FF2B5EF4-FFF2-40B4-BE49-F238E27FC236}">
                <a16:creationId xmlns:a16="http://schemas.microsoft.com/office/drawing/2014/main" id="{31DC4A62-EFF6-E8D6-6FA2-A940B548D08E}"/>
              </a:ext>
            </a:extLst>
          </p:cNvPr>
          <p:cNvGrpSpPr/>
          <p:nvPr/>
        </p:nvGrpSpPr>
        <p:grpSpPr>
          <a:xfrm>
            <a:off x="129445" y="4134221"/>
            <a:ext cx="8328756" cy="4902801"/>
            <a:chOff x="0" y="0"/>
            <a:chExt cx="2107633" cy="1291273"/>
          </a:xfrm>
        </p:grpSpPr>
        <p:sp>
          <p:nvSpPr>
            <p:cNvPr id="62" name="Freeform 20">
              <a:extLst>
                <a:ext uri="{FF2B5EF4-FFF2-40B4-BE49-F238E27FC236}">
                  <a16:creationId xmlns:a16="http://schemas.microsoft.com/office/drawing/2014/main" id="{1E5D2860-ED0A-3D64-D398-03A8A6983BE4}"/>
                </a:ext>
              </a:extLst>
            </p:cNvPr>
            <p:cNvSpPr/>
            <p:nvPr/>
          </p:nvSpPr>
          <p:spPr>
            <a:xfrm>
              <a:off x="0" y="0"/>
              <a:ext cx="2107633" cy="1291273"/>
            </a:xfrm>
            <a:custGeom>
              <a:avLst/>
              <a:gdLst/>
              <a:ahLst/>
              <a:cxnLst/>
              <a:rect l="l" t="t" r="r" b="b"/>
              <a:pathLst>
                <a:path w="2107633" h="1291273">
                  <a:moveTo>
                    <a:pt x="43535" y="0"/>
                  </a:moveTo>
                  <a:lnTo>
                    <a:pt x="2064098" y="0"/>
                  </a:lnTo>
                  <a:cubicBezTo>
                    <a:pt x="2075644" y="0"/>
                    <a:pt x="2086717" y="4587"/>
                    <a:pt x="2094882" y="12751"/>
                  </a:cubicBezTo>
                  <a:cubicBezTo>
                    <a:pt x="2103046" y="20916"/>
                    <a:pt x="2107633" y="31989"/>
                    <a:pt x="2107633" y="43535"/>
                  </a:cubicBezTo>
                  <a:lnTo>
                    <a:pt x="2107633" y="1247738"/>
                  </a:lnTo>
                  <a:cubicBezTo>
                    <a:pt x="2107633" y="1259284"/>
                    <a:pt x="2103046" y="1270357"/>
                    <a:pt x="2094882" y="1278522"/>
                  </a:cubicBezTo>
                  <a:cubicBezTo>
                    <a:pt x="2086717" y="1286686"/>
                    <a:pt x="2075644" y="1291273"/>
                    <a:pt x="2064098" y="1291273"/>
                  </a:cubicBezTo>
                  <a:lnTo>
                    <a:pt x="43535" y="1291273"/>
                  </a:lnTo>
                  <a:cubicBezTo>
                    <a:pt x="31989" y="1291273"/>
                    <a:pt x="20916" y="1286686"/>
                    <a:pt x="12751" y="1278522"/>
                  </a:cubicBezTo>
                  <a:cubicBezTo>
                    <a:pt x="4587" y="1270357"/>
                    <a:pt x="0" y="1259284"/>
                    <a:pt x="0" y="1247738"/>
                  </a:cubicBezTo>
                  <a:lnTo>
                    <a:pt x="0" y="43535"/>
                  </a:lnTo>
                  <a:cubicBezTo>
                    <a:pt x="0" y="31989"/>
                    <a:pt x="4587" y="20916"/>
                    <a:pt x="12751" y="12751"/>
                  </a:cubicBezTo>
                  <a:cubicBezTo>
                    <a:pt x="20916" y="4587"/>
                    <a:pt x="31989" y="0"/>
                    <a:pt x="43535" y="0"/>
                  </a:cubicBezTo>
                  <a:close/>
                </a:path>
              </a:pathLst>
            </a:custGeom>
            <a:solidFill>
              <a:srgbClr val="C8D1D9"/>
            </a:solidFill>
          </p:spPr>
        </p:sp>
        <p:sp>
          <p:nvSpPr>
            <p:cNvPr id="63" name="TextBox 21">
              <a:extLst>
                <a:ext uri="{FF2B5EF4-FFF2-40B4-BE49-F238E27FC236}">
                  <a16:creationId xmlns:a16="http://schemas.microsoft.com/office/drawing/2014/main" id="{F2F1F56D-9692-52EE-4C16-605BF1B1C5A7}"/>
                </a:ext>
              </a:extLst>
            </p:cNvPr>
            <p:cNvSpPr txBox="1"/>
            <p:nvPr/>
          </p:nvSpPr>
          <p:spPr>
            <a:xfrm>
              <a:off x="0" y="-19050"/>
              <a:ext cx="2107633" cy="1310323"/>
            </a:xfrm>
            <a:prstGeom prst="rect">
              <a:avLst/>
            </a:prstGeom>
          </p:spPr>
          <p:txBody>
            <a:bodyPr lIns="50800" tIns="50800" rIns="50800" bIns="50800" rtlCol="0" anchor="ctr"/>
            <a:lstStyle/>
            <a:p>
              <a:pPr algn="ctr">
                <a:lnSpc>
                  <a:spcPts val="2160"/>
                </a:lnSpc>
              </a:pPr>
              <a:endParaRPr/>
            </a:p>
          </p:txBody>
        </p:sp>
      </p:grpSp>
      <p:sp>
        <p:nvSpPr>
          <p:cNvPr id="65" name="TextBox 64">
            <a:extLst>
              <a:ext uri="{FF2B5EF4-FFF2-40B4-BE49-F238E27FC236}">
                <a16:creationId xmlns:a16="http://schemas.microsoft.com/office/drawing/2014/main" id="{E7197562-3E9D-A46F-63C8-4D2897C3C583}"/>
              </a:ext>
            </a:extLst>
          </p:cNvPr>
          <p:cNvSpPr txBox="1"/>
          <p:nvPr/>
        </p:nvSpPr>
        <p:spPr>
          <a:xfrm>
            <a:off x="114696" y="4294897"/>
            <a:ext cx="8328756" cy="4581447"/>
          </a:xfrm>
          <a:prstGeom prst="rect">
            <a:avLst/>
          </a:prstGeom>
          <a:noFill/>
        </p:spPr>
        <p:txBody>
          <a:bodyPr wrap="square">
            <a:spAutoFit/>
          </a:bodyPr>
          <a:lstStyle/>
          <a:p>
            <a:pPr algn="l">
              <a:lnSpc>
                <a:spcPts val="3193"/>
              </a:lnSpc>
            </a:pPr>
            <a:r>
              <a:rPr lang="en-US" sz="2660" b="1" dirty="0">
                <a:solidFill>
                  <a:srgbClr val="0070C0"/>
                </a:solidFill>
                <a:latin typeface="Arial Bold"/>
                <a:ea typeface="Arial Bold"/>
                <a:cs typeface="Arial Bold"/>
                <a:sym typeface="Arial Bold"/>
              </a:rPr>
              <a:t>How DEIMOS Addresses the Problem</a:t>
            </a:r>
          </a:p>
          <a:p>
            <a:pPr marL="481561" lvl="2" indent="-160520" algn="l">
              <a:lnSpc>
                <a:spcPts val="3193"/>
              </a:lnSpc>
              <a:buFont typeface="Arial"/>
              <a:buChar char="⚬"/>
            </a:pPr>
            <a:r>
              <a:rPr lang="en-US" sz="2660" dirty="0">
                <a:solidFill>
                  <a:srgbClr val="545454"/>
                </a:solidFill>
                <a:latin typeface="Arial"/>
                <a:ea typeface="Arial"/>
                <a:cs typeface="Arial"/>
                <a:sym typeface="Arial"/>
              </a:rPr>
              <a:t>DEIMOS is an AI-powered OSINT platform that collects and correlates dark-web and </a:t>
            </a:r>
            <a:r>
              <a:rPr lang="en-US" sz="2660" dirty="0" err="1">
                <a:solidFill>
                  <a:srgbClr val="545454"/>
                </a:solidFill>
                <a:latin typeface="Arial"/>
                <a:ea typeface="Arial"/>
                <a:cs typeface="Arial"/>
                <a:sym typeface="Arial"/>
              </a:rPr>
              <a:t>clearnet</a:t>
            </a:r>
            <a:r>
              <a:rPr lang="en-US" sz="2660" dirty="0">
                <a:solidFill>
                  <a:srgbClr val="545454"/>
                </a:solidFill>
                <a:latin typeface="Arial"/>
                <a:ea typeface="Arial"/>
                <a:cs typeface="Arial"/>
                <a:sym typeface="Arial"/>
              </a:rPr>
              <a:t> intelligence to connect anonymous threat actors with potential real-world entities.</a:t>
            </a:r>
          </a:p>
          <a:p>
            <a:pPr marL="481561" lvl="2" indent="-160520" algn="l">
              <a:lnSpc>
                <a:spcPts val="3193"/>
              </a:lnSpc>
              <a:buFont typeface="Arial"/>
              <a:buChar char="⚬"/>
            </a:pPr>
            <a:r>
              <a:rPr lang="en-US" sz="2660" dirty="0">
                <a:solidFill>
                  <a:srgbClr val="545454"/>
                </a:solidFill>
                <a:latin typeface="Arial"/>
                <a:ea typeface="Arial"/>
                <a:cs typeface="Arial"/>
                <a:sym typeface="Arial"/>
              </a:rPr>
              <a:t>Correlates Tor-service vulnerabilities with </a:t>
            </a:r>
            <a:r>
              <a:rPr lang="en-US" sz="2660" dirty="0" err="1">
                <a:solidFill>
                  <a:srgbClr val="545454"/>
                </a:solidFill>
                <a:latin typeface="Arial"/>
                <a:ea typeface="Arial"/>
                <a:cs typeface="Arial"/>
                <a:sym typeface="Arial"/>
              </a:rPr>
              <a:t>clearnet</a:t>
            </a:r>
            <a:r>
              <a:rPr lang="en-US" sz="2660" dirty="0">
                <a:solidFill>
                  <a:srgbClr val="545454"/>
                </a:solidFill>
                <a:latin typeface="Arial"/>
                <a:ea typeface="Arial"/>
                <a:cs typeface="Arial"/>
                <a:sym typeface="Arial"/>
              </a:rPr>
              <a:t> infrastructure.</a:t>
            </a:r>
          </a:p>
          <a:p>
            <a:pPr marL="481561" lvl="2" indent="-160520" algn="l">
              <a:lnSpc>
                <a:spcPts val="3193"/>
              </a:lnSpc>
              <a:buFont typeface="Arial"/>
              <a:buChar char="⚬"/>
            </a:pPr>
            <a:r>
              <a:rPr lang="en-US" sz="2660" dirty="0">
                <a:solidFill>
                  <a:srgbClr val="545454"/>
                </a:solidFill>
                <a:latin typeface="Arial"/>
                <a:ea typeface="Arial"/>
                <a:cs typeface="Arial"/>
                <a:sym typeface="Arial"/>
              </a:rPr>
              <a:t>Links aliases, PGP keys, wallets, and related identities in a unified graph.</a:t>
            </a:r>
          </a:p>
          <a:p>
            <a:pPr marL="481561" lvl="2" indent="-160520" algn="l">
              <a:lnSpc>
                <a:spcPts val="3193"/>
              </a:lnSpc>
              <a:buFont typeface="Arial"/>
              <a:buChar char="⚬"/>
            </a:pPr>
            <a:r>
              <a:rPr lang="en-US" sz="2660" dirty="0">
                <a:solidFill>
                  <a:srgbClr val="545454"/>
                </a:solidFill>
                <a:latin typeface="Arial"/>
                <a:ea typeface="Arial"/>
                <a:cs typeface="Arial"/>
                <a:sym typeface="Arial"/>
              </a:rPr>
              <a:t>Uses multi-model AI for </a:t>
            </a:r>
            <a:r>
              <a:rPr lang="en-US" sz="2660" dirty="0" err="1">
                <a:solidFill>
                  <a:srgbClr val="545454"/>
                </a:solidFill>
                <a:latin typeface="Arial"/>
                <a:ea typeface="Arial"/>
                <a:cs typeface="Arial"/>
                <a:sym typeface="Arial"/>
              </a:rPr>
              <a:t>behavioural</a:t>
            </a:r>
            <a:r>
              <a:rPr lang="en-US" sz="2660" dirty="0">
                <a:solidFill>
                  <a:srgbClr val="545454"/>
                </a:solidFill>
                <a:latin typeface="Arial"/>
                <a:ea typeface="Arial"/>
                <a:cs typeface="Arial"/>
                <a:sym typeface="Arial"/>
              </a:rPr>
              <a:t> analysis and cross-platform persona matching.</a:t>
            </a:r>
          </a:p>
        </p:txBody>
      </p:sp>
      <p:grpSp>
        <p:nvGrpSpPr>
          <p:cNvPr id="66" name="Group 22">
            <a:extLst>
              <a:ext uri="{FF2B5EF4-FFF2-40B4-BE49-F238E27FC236}">
                <a16:creationId xmlns:a16="http://schemas.microsoft.com/office/drawing/2014/main" id="{EEE96CCE-984D-D059-CF91-621766F22760}"/>
              </a:ext>
            </a:extLst>
          </p:cNvPr>
          <p:cNvGrpSpPr/>
          <p:nvPr/>
        </p:nvGrpSpPr>
        <p:grpSpPr>
          <a:xfrm>
            <a:off x="9448800" y="4091879"/>
            <a:ext cx="8596103" cy="4945143"/>
            <a:chOff x="0" y="0"/>
            <a:chExt cx="2344271" cy="1302425"/>
          </a:xfrm>
        </p:grpSpPr>
        <p:sp>
          <p:nvSpPr>
            <p:cNvPr id="67" name="Freeform 23">
              <a:extLst>
                <a:ext uri="{FF2B5EF4-FFF2-40B4-BE49-F238E27FC236}">
                  <a16:creationId xmlns:a16="http://schemas.microsoft.com/office/drawing/2014/main" id="{257013A1-CEF7-8342-5ECC-60A36E7C400C}"/>
                </a:ext>
              </a:extLst>
            </p:cNvPr>
            <p:cNvSpPr/>
            <p:nvPr/>
          </p:nvSpPr>
          <p:spPr>
            <a:xfrm>
              <a:off x="0" y="0"/>
              <a:ext cx="2344271" cy="1302425"/>
            </a:xfrm>
            <a:custGeom>
              <a:avLst/>
              <a:gdLst/>
              <a:ahLst/>
              <a:cxnLst/>
              <a:rect l="l" t="t" r="r" b="b"/>
              <a:pathLst>
                <a:path w="2344271" h="1302425">
                  <a:moveTo>
                    <a:pt x="31312" y="0"/>
                  </a:moveTo>
                  <a:lnTo>
                    <a:pt x="2312958" y="0"/>
                  </a:lnTo>
                  <a:cubicBezTo>
                    <a:pt x="2321263" y="0"/>
                    <a:pt x="2329227" y="3299"/>
                    <a:pt x="2335100" y="9171"/>
                  </a:cubicBezTo>
                  <a:cubicBezTo>
                    <a:pt x="2340972" y="15043"/>
                    <a:pt x="2344271" y="23008"/>
                    <a:pt x="2344271" y="31312"/>
                  </a:cubicBezTo>
                  <a:lnTo>
                    <a:pt x="2344271" y="1271112"/>
                  </a:lnTo>
                  <a:cubicBezTo>
                    <a:pt x="2344271" y="1288405"/>
                    <a:pt x="2330252" y="1302425"/>
                    <a:pt x="2312958" y="1302425"/>
                  </a:cubicBezTo>
                  <a:lnTo>
                    <a:pt x="31312" y="1302425"/>
                  </a:lnTo>
                  <a:cubicBezTo>
                    <a:pt x="23008" y="1302425"/>
                    <a:pt x="15043" y="1299126"/>
                    <a:pt x="9171" y="1293253"/>
                  </a:cubicBezTo>
                  <a:cubicBezTo>
                    <a:pt x="3299" y="1287381"/>
                    <a:pt x="0" y="1279417"/>
                    <a:pt x="0" y="1271112"/>
                  </a:cubicBezTo>
                  <a:lnTo>
                    <a:pt x="0" y="31312"/>
                  </a:lnTo>
                  <a:cubicBezTo>
                    <a:pt x="0" y="23008"/>
                    <a:pt x="3299" y="15043"/>
                    <a:pt x="9171" y="9171"/>
                  </a:cubicBezTo>
                  <a:cubicBezTo>
                    <a:pt x="15043" y="3299"/>
                    <a:pt x="23008" y="0"/>
                    <a:pt x="31312" y="0"/>
                  </a:cubicBezTo>
                  <a:close/>
                </a:path>
              </a:pathLst>
            </a:custGeom>
            <a:solidFill>
              <a:srgbClr val="C8D1D9"/>
            </a:solidFill>
          </p:spPr>
        </p:sp>
        <p:sp>
          <p:nvSpPr>
            <p:cNvPr id="68" name="TextBox 24">
              <a:extLst>
                <a:ext uri="{FF2B5EF4-FFF2-40B4-BE49-F238E27FC236}">
                  <a16:creationId xmlns:a16="http://schemas.microsoft.com/office/drawing/2014/main" id="{A1B516E5-C93F-97E6-AA57-9DDAA7FEC4A9}"/>
                </a:ext>
              </a:extLst>
            </p:cNvPr>
            <p:cNvSpPr txBox="1"/>
            <p:nvPr/>
          </p:nvSpPr>
          <p:spPr>
            <a:xfrm>
              <a:off x="0" y="-19050"/>
              <a:ext cx="2344271" cy="1321475"/>
            </a:xfrm>
            <a:prstGeom prst="rect">
              <a:avLst/>
            </a:prstGeom>
          </p:spPr>
          <p:txBody>
            <a:bodyPr lIns="50800" tIns="50800" rIns="50800" bIns="50800" rtlCol="0" anchor="ctr"/>
            <a:lstStyle/>
            <a:p>
              <a:pPr algn="ctr">
                <a:lnSpc>
                  <a:spcPts val="2160"/>
                </a:lnSpc>
              </a:pPr>
              <a:endParaRPr/>
            </a:p>
          </p:txBody>
        </p:sp>
      </p:grpSp>
      <p:sp>
        <p:nvSpPr>
          <p:cNvPr id="70" name="TextBox 27">
            <a:extLst>
              <a:ext uri="{FF2B5EF4-FFF2-40B4-BE49-F238E27FC236}">
                <a16:creationId xmlns:a16="http://schemas.microsoft.com/office/drawing/2014/main" id="{43365E47-0105-D669-0A1A-C6B3F4CA80A2}"/>
              </a:ext>
            </a:extLst>
          </p:cNvPr>
          <p:cNvSpPr txBox="1"/>
          <p:nvPr/>
        </p:nvSpPr>
        <p:spPr>
          <a:xfrm>
            <a:off x="9144000" y="4226897"/>
            <a:ext cx="8723007" cy="4410075"/>
          </a:xfrm>
          <a:prstGeom prst="rect">
            <a:avLst/>
          </a:prstGeom>
        </p:spPr>
        <p:txBody>
          <a:bodyPr lIns="0" tIns="0" rIns="0" bIns="0" rtlCol="0" anchor="t">
            <a:spAutoFit/>
          </a:bodyPr>
          <a:lstStyle/>
          <a:p>
            <a:pPr algn="l">
              <a:lnSpc>
                <a:spcPts val="3193"/>
              </a:lnSpc>
            </a:pPr>
            <a:r>
              <a:rPr lang="en-US" sz="2660" b="1" dirty="0">
                <a:solidFill>
                  <a:srgbClr val="0070C0"/>
                </a:solidFill>
                <a:latin typeface="Arial Bold"/>
                <a:ea typeface="Arial Bold"/>
                <a:cs typeface="Arial Bold"/>
                <a:sym typeface="Arial Bold"/>
              </a:rPr>
              <a:t>     Innovation and uniqueness of the solution</a:t>
            </a:r>
          </a:p>
          <a:p>
            <a:pPr marL="481561" lvl="2" indent="-160520" algn="l">
              <a:lnSpc>
                <a:spcPts val="3193"/>
              </a:lnSpc>
              <a:buFont typeface="Arial"/>
              <a:buChar char="⚬"/>
            </a:pPr>
            <a:r>
              <a:rPr lang="en-US" sz="2660" dirty="0">
                <a:solidFill>
                  <a:srgbClr val="545454"/>
                </a:solidFill>
                <a:latin typeface="Arial"/>
                <a:ea typeface="Arial"/>
                <a:cs typeface="Arial"/>
                <a:sym typeface="Arial"/>
              </a:rPr>
              <a:t>Dedicated X Search for searching aliases on </a:t>
            </a:r>
            <a:r>
              <a:rPr lang="en-US" sz="2660" dirty="0" err="1">
                <a:solidFill>
                  <a:srgbClr val="545454"/>
                </a:solidFill>
                <a:latin typeface="Arial"/>
                <a:ea typeface="Arial"/>
                <a:cs typeface="Arial"/>
                <a:sym typeface="Arial"/>
              </a:rPr>
              <a:t>clearnet</a:t>
            </a:r>
            <a:endParaRPr lang="en-US" sz="2660" dirty="0">
              <a:solidFill>
                <a:srgbClr val="545454"/>
              </a:solidFill>
              <a:latin typeface="Arial"/>
              <a:ea typeface="Arial"/>
              <a:cs typeface="Arial"/>
              <a:sym typeface="Arial"/>
            </a:endParaRPr>
          </a:p>
          <a:p>
            <a:pPr marL="481561" lvl="2" indent="-160520" algn="l">
              <a:lnSpc>
                <a:spcPts val="3193"/>
              </a:lnSpc>
              <a:buFont typeface="Arial"/>
              <a:buChar char="⚬"/>
            </a:pPr>
            <a:r>
              <a:rPr lang="en-US" sz="2660" dirty="0">
                <a:solidFill>
                  <a:srgbClr val="545454"/>
                </a:solidFill>
                <a:latin typeface="Arial"/>
                <a:ea typeface="Arial"/>
                <a:cs typeface="Arial"/>
                <a:sym typeface="Arial"/>
              </a:rPr>
              <a:t>Explainable knowledge graphs show why identities are linked with confidence scores.</a:t>
            </a:r>
          </a:p>
          <a:p>
            <a:pPr marL="481561" lvl="2" indent="-160520" algn="l">
              <a:lnSpc>
                <a:spcPts val="3193"/>
              </a:lnSpc>
              <a:buFont typeface="Arial"/>
              <a:buChar char="⚬"/>
            </a:pPr>
            <a:r>
              <a:rPr lang="en-US" sz="2660" dirty="0">
                <a:solidFill>
                  <a:srgbClr val="545454"/>
                </a:solidFill>
                <a:latin typeface="Arial"/>
                <a:ea typeface="Arial"/>
                <a:cs typeface="Arial"/>
                <a:sym typeface="Arial"/>
              </a:rPr>
              <a:t>Adaptive persona tracking detects rebranding, migration, and evolving actor </a:t>
            </a:r>
            <a:r>
              <a:rPr lang="en-US" sz="2660" dirty="0" err="1">
                <a:solidFill>
                  <a:srgbClr val="545454"/>
                </a:solidFill>
                <a:latin typeface="Arial"/>
                <a:ea typeface="Arial"/>
                <a:cs typeface="Arial"/>
                <a:sym typeface="Arial"/>
              </a:rPr>
              <a:t>behaviour</a:t>
            </a:r>
            <a:r>
              <a:rPr lang="en-US" sz="2660" dirty="0">
                <a:solidFill>
                  <a:srgbClr val="545454"/>
                </a:solidFill>
                <a:latin typeface="Arial"/>
                <a:ea typeface="Arial"/>
                <a:cs typeface="Arial"/>
                <a:sym typeface="Arial"/>
              </a:rPr>
              <a:t>.</a:t>
            </a:r>
          </a:p>
          <a:p>
            <a:pPr marL="481561" lvl="2" indent="-160520" algn="l">
              <a:lnSpc>
                <a:spcPts val="3193"/>
              </a:lnSpc>
              <a:buFont typeface="Arial"/>
              <a:buChar char="⚬"/>
            </a:pPr>
            <a:r>
              <a:rPr lang="en-US" sz="2660" dirty="0">
                <a:solidFill>
                  <a:srgbClr val="545454"/>
                </a:solidFill>
                <a:latin typeface="Arial"/>
                <a:ea typeface="Arial"/>
                <a:cs typeface="Arial"/>
                <a:sym typeface="Arial"/>
              </a:rPr>
              <a:t>Human-in-the-loop validation ensures reliable and accountable attribution. </a:t>
            </a:r>
          </a:p>
          <a:p>
            <a:pPr marL="481561" lvl="2" indent="-160520" algn="l">
              <a:lnSpc>
                <a:spcPts val="3193"/>
              </a:lnSpc>
              <a:buFont typeface="Arial"/>
              <a:buChar char="⚬"/>
            </a:pPr>
            <a:r>
              <a:rPr lang="en-US" sz="2660" dirty="0">
                <a:solidFill>
                  <a:srgbClr val="545454"/>
                </a:solidFill>
                <a:latin typeface="Arial"/>
                <a:ea typeface="Arial"/>
                <a:cs typeface="Arial"/>
                <a:sym typeface="Arial"/>
              </a:rPr>
              <a:t>Integrated Dark-web search engine, focused on critical websites.</a:t>
            </a:r>
          </a:p>
          <a:p>
            <a:pPr marL="481561" lvl="2" indent="-160520" algn="l">
              <a:lnSpc>
                <a:spcPts val="3193"/>
              </a:lnSpc>
              <a:buFont typeface="Arial"/>
              <a:buChar char="⚬"/>
            </a:pPr>
            <a:endParaRPr lang="en-US" sz="2660" dirty="0">
              <a:solidFill>
                <a:srgbClr val="54545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545454"/>
                  </a:solidFill>
                  <a:latin typeface="Times New Roman Bold"/>
                  <a:ea typeface="Times New Roman Bold"/>
                  <a:cs typeface="Times New Roman Bold"/>
                  <a:sym typeface="Times New Roman Bold"/>
                </a:rPr>
                <a:t>TECHNICAL APPROACH</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3</a:t>
              </a:r>
            </a:p>
          </p:txBody>
        </p:sp>
      </p:grpSp>
      <p:grpSp>
        <p:nvGrpSpPr>
          <p:cNvPr id="10" name="Group 10"/>
          <p:cNvGrpSpPr/>
          <p:nvPr/>
        </p:nvGrpSpPr>
        <p:grpSpPr>
          <a:xfrm>
            <a:off x="6153163"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Bennett University</a:t>
              </a:r>
            </a:p>
          </p:txBody>
        </p:sp>
      </p:grpSp>
      <p:grpSp>
        <p:nvGrpSpPr>
          <p:cNvPr id="13" name="Group 13"/>
          <p:cNvGrpSpPr/>
          <p:nvPr/>
        </p:nvGrpSpPr>
        <p:grpSpPr>
          <a:xfrm>
            <a:off x="378795" y="175233"/>
            <a:ext cx="1915887" cy="1249101"/>
            <a:chOff x="0" y="0"/>
            <a:chExt cx="2554516" cy="1665468"/>
          </a:xfrm>
        </p:grpSpPr>
        <p:sp>
          <p:nvSpPr>
            <p:cNvPr id="14" name="Freeform 14"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Vulkans</a:t>
              </a:r>
            </a:p>
          </p:txBody>
        </p:sp>
      </p:gr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18" name="Freeform 18"/>
          <p:cNvSpPr/>
          <p:nvPr/>
        </p:nvSpPr>
        <p:spPr>
          <a:xfrm>
            <a:off x="15471191" y="1825753"/>
            <a:ext cx="2283935" cy="1141967"/>
          </a:xfrm>
          <a:custGeom>
            <a:avLst/>
            <a:gdLst/>
            <a:ahLst/>
            <a:cxnLst/>
            <a:rect l="l" t="t" r="r" b="b"/>
            <a:pathLst>
              <a:path w="2283935" h="1141967">
                <a:moveTo>
                  <a:pt x="0" y="0"/>
                </a:moveTo>
                <a:lnTo>
                  <a:pt x="2283935" y="0"/>
                </a:lnTo>
                <a:lnTo>
                  <a:pt x="2283935" y="1141967"/>
                </a:lnTo>
                <a:lnTo>
                  <a:pt x="0" y="1141967"/>
                </a:lnTo>
                <a:lnTo>
                  <a:pt x="0" y="0"/>
                </a:lnTo>
                <a:close/>
              </a:path>
            </a:pathLst>
          </a:custGeom>
          <a:blipFill>
            <a:blip r:embed="rId5"/>
            <a:stretch>
              <a:fillRect/>
            </a:stretch>
          </a:blipFill>
        </p:spPr>
      </p:sp>
      <p:sp>
        <p:nvSpPr>
          <p:cNvPr id="19" name="Freeform 19"/>
          <p:cNvSpPr/>
          <p:nvPr/>
        </p:nvSpPr>
        <p:spPr>
          <a:xfrm>
            <a:off x="15529338" y="2854380"/>
            <a:ext cx="2167642" cy="1321548"/>
          </a:xfrm>
          <a:custGeom>
            <a:avLst/>
            <a:gdLst/>
            <a:ahLst/>
            <a:cxnLst/>
            <a:rect l="l" t="t" r="r" b="b"/>
            <a:pathLst>
              <a:path w="2167642" h="1321548">
                <a:moveTo>
                  <a:pt x="0" y="0"/>
                </a:moveTo>
                <a:lnTo>
                  <a:pt x="2167642" y="0"/>
                </a:lnTo>
                <a:lnTo>
                  <a:pt x="2167642" y="1321548"/>
                </a:lnTo>
                <a:lnTo>
                  <a:pt x="0" y="1321548"/>
                </a:lnTo>
                <a:lnTo>
                  <a:pt x="0" y="0"/>
                </a:lnTo>
                <a:close/>
              </a:path>
            </a:pathLst>
          </a:custGeom>
          <a:blipFill>
            <a:blip r:embed="rId6"/>
            <a:stretch>
              <a:fillRect r="-7959"/>
            </a:stretch>
          </a:blipFill>
        </p:spPr>
      </p:sp>
      <p:sp>
        <p:nvSpPr>
          <p:cNvPr id="20" name="Freeform 20"/>
          <p:cNvSpPr/>
          <p:nvPr/>
        </p:nvSpPr>
        <p:spPr>
          <a:xfrm>
            <a:off x="783777" y="2081559"/>
            <a:ext cx="1105922" cy="1105922"/>
          </a:xfrm>
          <a:custGeom>
            <a:avLst/>
            <a:gdLst/>
            <a:ahLst/>
            <a:cxnLst/>
            <a:rect l="l" t="t" r="r" b="b"/>
            <a:pathLst>
              <a:path w="1105922" h="1105922">
                <a:moveTo>
                  <a:pt x="0" y="0"/>
                </a:moveTo>
                <a:lnTo>
                  <a:pt x="1105923" y="0"/>
                </a:lnTo>
                <a:lnTo>
                  <a:pt x="1105923" y="1105922"/>
                </a:lnTo>
                <a:lnTo>
                  <a:pt x="0" y="1105922"/>
                </a:lnTo>
                <a:lnTo>
                  <a:pt x="0" y="0"/>
                </a:lnTo>
                <a:close/>
              </a:path>
            </a:pathLst>
          </a:custGeom>
          <a:blipFill>
            <a:blip r:embed="rId7"/>
            <a:stretch>
              <a:fillRect/>
            </a:stretch>
          </a:blipFill>
        </p:spPr>
      </p:sp>
      <p:sp>
        <p:nvSpPr>
          <p:cNvPr id="21" name="Freeform 21"/>
          <p:cNvSpPr/>
          <p:nvPr/>
        </p:nvSpPr>
        <p:spPr>
          <a:xfrm>
            <a:off x="11768473" y="1595752"/>
            <a:ext cx="1780258" cy="439466"/>
          </a:xfrm>
          <a:custGeom>
            <a:avLst/>
            <a:gdLst/>
            <a:ahLst/>
            <a:cxnLst/>
            <a:rect l="l" t="t" r="r" b="b"/>
            <a:pathLst>
              <a:path w="1780258" h="439466">
                <a:moveTo>
                  <a:pt x="0" y="0"/>
                </a:moveTo>
                <a:lnTo>
                  <a:pt x="1780258" y="0"/>
                </a:lnTo>
                <a:lnTo>
                  <a:pt x="1780258" y="439466"/>
                </a:lnTo>
                <a:lnTo>
                  <a:pt x="0" y="439466"/>
                </a:lnTo>
                <a:lnTo>
                  <a:pt x="0" y="0"/>
                </a:lnTo>
                <a:close/>
              </a:path>
            </a:pathLst>
          </a:custGeom>
          <a:blipFill>
            <a:blip r:embed="rId8"/>
            <a:stretch>
              <a:fillRect/>
            </a:stretch>
          </a:blipFill>
        </p:spPr>
      </p:sp>
      <p:sp>
        <p:nvSpPr>
          <p:cNvPr id="22" name="Freeform 22"/>
          <p:cNvSpPr/>
          <p:nvPr/>
        </p:nvSpPr>
        <p:spPr>
          <a:xfrm>
            <a:off x="15748950" y="4356903"/>
            <a:ext cx="1728418" cy="1052736"/>
          </a:xfrm>
          <a:custGeom>
            <a:avLst/>
            <a:gdLst/>
            <a:ahLst/>
            <a:cxnLst/>
            <a:rect l="l" t="t" r="r" b="b"/>
            <a:pathLst>
              <a:path w="1728418" h="1052736">
                <a:moveTo>
                  <a:pt x="0" y="0"/>
                </a:moveTo>
                <a:lnTo>
                  <a:pt x="1728418" y="0"/>
                </a:lnTo>
                <a:lnTo>
                  <a:pt x="1728418" y="1052737"/>
                </a:lnTo>
                <a:lnTo>
                  <a:pt x="0" y="1052737"/>
                </a:lnTo>
                <a:lnTo>
                  <a:pt x="0" y="0"/>
                </a:lnTo>
                <a:close/>
              </a:path>
            </a:pathLst>
          </a:custGeom>
          <a:blipFill>
            <a:blip r:embed="rId9"/>
            <a:stretch>
              <a:fillRect/>
            </a:stretch>
          </a:blipFill>
        </p:spPr>
      </p:sp>
      <p:sp>
        <p:nvSpPr>
          <p:cNvPr id="23" name="Freeform 23"/>
          <p:cNvSpPr/>
          <p:nvPr/>
        </p:nvSpPr>
        <p:spPr>
          <a:xfrm>
            <a:off x="653677" y="3625978"/>
            <a:ext cx="1366124" cy="1366124"/>
          </a:xfrm>
          <a:custGeom>
            <a:avLst/>
            <a:gdLst/>
            <a:ahLst/>
            <a:cxnLst/>
            <a:rect l="l" t="t" r="r" b="b"/>
            <a:pathLst>
              <a:path w="1366124" h="1366124">
                <a:moveTo>
                  <a:pt x="0" y="0"/>
                </a:moveTo>
                <a:lnTo>
                  <a:pt x="1366123" y="0"/>
                </a:lnTo>
                <a:lnTo>
                  <a:pt x="1366123" y="1366123"/>
                </a:lnTo>
                <a:lnTo>
                  <a:pt x="0" y="1366123"/>
                </a:lnTo>
                <a:lnTo>
                  <a:pt x="0" y="0"/>
                </a:lnTo>
                <a:close/>
              </a:path>
            </a:pathLst>
          </a:custGeom>
          <a:blipFill>
            <a:blip r:embed="rId10"/>
            <a:stretch>
              <a:fillRect/>
            </a:stretch>
          </a:blipFill>
        </p:spPr>
      </p:sp>
      <p:grpSp>
        <p:nvGrpSpPr>
          <p:cNvPr id="24" name="Group 24"/>
          <p:cNvGrpSpPr/>
          <p:nvPr/>
        </p:nvGrpSpPr>
        <p:grpSpPr>
          <a:xfrm>
            <a:off x="1673039" y="5505795"/>
            <a:ext cx="1243287" cy="1708036"/>
            <a:chOff x="0" y="0"/>
            <a:chExt cx="327450" cy="449853"/>
          </a:xfrm>
        </p:grpSpPr>
        <p:sp>
          <p:nvSpPr>
            <p:cNvPr id="25" name="Freeform 25"/>
            <p:cNvSpPr/>
            <p:nvPr/>
          </p:nvSpPr>
          <p:spPr>
            <a:xfrm>
              <a:off x="0" y="0"/>
              <a:ext cx="327450" cy="449853"/>
            </a:xfrm>
            <a:custGeom>
              <a:avLst/>
              <a:gdLst/>
              <a:ahLst/>
              <a:cxnLst/>
              <a:rect l="l" t="t" r="r" b="b"/>
              <a:pathLst>
                <a:path w="327450" h="449853">
                  <a:moveTo>
                    <a:pt x="0" y="0"/>
                  </a:moveTo>
                  <a:lnTo>
                    <a:pt x="327450" y="0"/>
                  </a:lnTo>
                  <a:lnTo>
                    <a:pt x="327450" y="449853"/>
                  </a:lnTo>
                  <a:lnTo>
                    <a:pt x="0" y="449853"/>
                  </a:lnTo>
                  <a:close/>
                </a:path>
              </a:pathLst>
            </a:custGeom>
            <a:solidFill>
              <a:srgbClr val="C8D1D9"/>
            </a:solidFill>
          </p:spPr>
        </p:sp>
        <p:sp>
          <p:nvSpPr>
            <p:cNvPr id="26" name="TextBox 26"/>
            <p:cNvSpPr txBox="1"/>
            <p:nvPr/>
          </p:nvSpPr>
          <p:spPr>
            <a:xfrm>
              <a:off x="0" y="-19050"/>
              <a:ext cx="327450" cy="468903"/>
            </a:xfrm>
            <a:prstGeom prst="rect">
              <a:avLst/>
            </a:prstGeom>
          </p:spPr>
          <p:txBody>
            <a:bodyPr lIns="50800" tIns="50800" rIns="50800" bIns="50800" rtlCol="0" anchor="ctr"/>
            <a:lstStyle/>
            <a:p>
              <a:pPr algn="ctr">
                <a:lnSpc>
                  <a:spcPts val="2160"/>
                </a:lnSpc>
              </a:pPr>
              <a:r>
                <a:rPr lang="en-US" sz="1800">
                  <a:solidFill>
                    <a:srgbClr val="000000"/>
                  </a:solidFill>
                  <a:latin typeface="Arimo"/>
                  <a:ea typeface="Arimo"/>
                  <a:cs typeface="Arimo"/>
                  <a:sym typeface="Arimo"/>
                </a:rPr>
                <a:t>Dark Web &amp; Clearnet Sources</a:t>
              </a:r>
            </a:p>
          </p:txBody>
        </p:sp>
      </p:grpSp>
      <p:grpSp>
        <p:nvGrpSpPr>
          <p:cNvPr id="27" name="Group 27"/>
          <p:cNvGrpSpPr/>
          <p:nvPr/>
        </p:nvGrpSpPr>
        <p:grpSpPr>
          <a:xfrm>
            <a:off x="13093876" y="5479006"/>
            <a:ext cx="1686610" cy="1723540"/>
            <a:chOff x="0" y="0"/>
            <a:chExt cx="444210" cy="453936"/>
          </a:xfrm>
        </p:grpSpPr>
        <p:sp>
          <p:nvSpPr>
            <p:cNvPr id="28" name="Freeform 28"/>
            <p:cNvSpPr/>
            <p:nvPr/>
          </p:nvSpPr>
          <p:spPr>
            <a:xfrm>
              <a:off x="0" y="0"/>
              <a:ext cx="444210" cy="453936"/>
            </a:xfrm>
            <a:custGeom>
              <a:avLst/>
              <a:gdLst/>
              <a:ahLst/>
              <a:cxnLst/>
              <a:rect l="l" t="t" r="r" b="b"/>
              <a:pathLst>
                <a:path w="444210" h="453936">
                  <a:moveTo>
                    <a:pt x="0" y="0"/>
                  </a:moveTo>
                  <a:lnTo>
                    <a:pt x="444210" y="0"/>
                  </a:lnTo>
                  <a:lnTo>
                    <a:pt x="444210" y="453936"/>
                  </a:lnTo>
                  <a:lnTo>
                    <a:pt x="0" y="453936"/>
                  </a:lnTo>
                  <a:close/>
                </a:path>
              </a:pathLst>
            </a:custGeom>
            <a:solidFill>
              <a:srgbClr val="C8D1D9"/>
            </a:solidFill>
          </p:spPr>
        </p:sp>
        <p:sp>
          <p:nvSpPr>
            <p:cNvPr id="29" name="TextBox 29"/>
            <p:cNvSpPr txBox="1"/>
            <p:nvPr/>
          </p:nvSpPr>
          <p:spPr>
            <a:xfrm>
              <a:off x="0" y="-19050"/>
              <a:ext cx="444210" cy="472986"/>
            </a:xfrm>
            <a:prstGeom prst="rect">
              <a:avLst/>
            </a:prstGeom>
          </p:spPr>
          <p:txBody>
            <a:bodyPr lIns="50800" tIns="50800" rIns="50800" bIns="50800" rtlCol="0" anchor="ctr"/>
            <a:lstStyle/>
            <a:p>
              <a:pPr algn="ctr">
                <a:lnSpc>
                  <a:spcPts val="2160"/>
                </a:lnSpc>
              </a:pPr>
              <a:r>
                <a:rPr lang="en-US" sz="1800">
                  <a:solidFill>
                    <a:srgbClr val="000000"/>
                  </a:solidFill>
                  <a:latin typeface="Arimo"/>
                  <a:ea typeface="Arimo"/>
                  <a:cs typeface="Arimo"/>
                  <a:sym typeface="Arimo"/>
                </a:rPr>
                <a:t>Investigation Dashboard, Alerts &amp; Reports</a:t>
              </a:r>
            </a:p>
          </p:txBody>
        </p:sp>
      </p:grpSp>
      <p:grpSp>
        <p:nvGrpSpPr>
          <p:cNvPr id="30" name="Group 30"/>
          <p:cNvGrpSpPr/>
          <p:nvPr/>
        </p:nvGrpSpPr>
        <p:grpSpPr>
          <a:xfrm>
            <a:off x="2873109" y="5641625"/>
            <a:ext cx="961721" cy="706902"/>
            <a:chOff x="0" y="0"/>
            <a:chExt cx="871658" cy="640703"/>
          </a:xfrm>
        </p:grpSpPr>
        <p:sp>
          <p:nvSpPr>
            <p:cNvPr id="31" name="Freeform 31"/>
            <p:cNvSpPr/>
            <p:nvPr/>
          </p:nvSpPr>
          <p:spPr>
            <a:xfrm>
              <a:off x="0" y="0"/>
              <a:ext cx="871658" cy="640703"/>
            </a:xfrm>
            <a:custGeom>
              <a:avLst/>
              <a:gdLst/>
              <a:ahLst/>
              <a:cxnLst/>
              <a:rect l="l" t="t" r="r" b="b"/>
              <a:pathLst>
                <a:path w="871658" h="640703">
                  <a:moveTo>
                    <a:pt x="871658" y="320351"/>
                  </a:moveTo>
                  <a:lnTo>
                    <a:pt x="465258" y="0"/>
                  </a:lnTo>
                  <a:lnTo>
                    <a:pt x="465258" y="203200"/>
                  </a:lnTo>
                  <a:lnTo>
                    <a:pt x="0" y="203200"/>
                  </a:lnTo>
                  <a:lnTo>
                    <a:pt x="0" y="437503"/>
                  </a:lnTo>
                  <a:lnTo>
                    <a:pt x="465258" y="437503"/>
                  </a:lnTo>
                  <a:lnTo>
                    <a:pt x="465258" y="640703"/>
                  </a:lnTo>
                  <a:lnTo>
                    <a:pt x="871658" y="320351"/>
                  </a:lnTo>
                  <a:close/>
                </a:path>
              </a:pathLst>
            </a:custGeom>
            <a:solidFill>
              <a:srgbClr val="C8D1D9"/>
            </a:solidFill>
          </p:spPr>
        </p:sp>
        <p:sp>
          <p:nvSpPr>
            <p:cNvPr id="32" name="TextBox 32"/>
            <p:cNvSpPr txBox="1"/>
            <p:nvPr/>
          </p:nvSpPr>
          <p:spPr>
            <a:xfrm>
              <a:off x="0" y="184150"/>
              <a:ext cx="770058" cy="253353"/>
            </a:xfrm>
            <a:prstGeom prst="rect">
              <a:avLst/>
            </a:prstGeom>
          </p:spPr>
          <p:txBody>
            <a:bodyPr lIns="50800" tIns="50800" rIns="50800" bIns="50800" rtlCol="0" anchor="ctr"/>
            <a:lstStyle/>
            <a:p>
              <a:pPr algn="ctr">
                <a:lnSpc>
                  <a:spcPts val="2160"/>
                </a:lnSpc>
              </a:pPr>
              <a:endParaRPr/>
            </a:p>
          </p:txBody>
        </p:sp>
      </p:grpSp>
      <p:grpSp>
        <p:nvGrpSpPr>
          <p:cNvPr id="34" name="Group 34"/>
          <p:cNvGrpSpPr/>
          <p:nvPr/>
        </p:nvGrpSpPr>
        <p:grpSpPr>
          <a:xfrm>
            <a:off x="5161849" y="5645278"/>
            <a:ext cx="961721" cy="706902"/>
            <a:chOff x="0" y="0"/>
            <a:chExt cx="871658" cy="640703"/>
          </a:xfrm>
        </p:grpSpPr>
        <p:sp>
          <p:nvSpPr>
            <p:cNvPr id="35" name="Freeform 35"/>
            <p:cNvSpPr/>
            <p:nvPr/>
          </p:nvSpPr>
          <p:spPr>
            <a:xfrm>
              <a:off x="0" y="0"/>
              <a:ext cx="871658" cy="640703"/>
            </a:xfrm>
            <a:custGeom>
              <a:avLst/>
              <a:gdLst/>
              <a:ahLst/>
              <a:cxnLst/>
              <a:rect l="l" t="t" r="r" b="b"/>
              <a:pathLst>
                <a:path w="871658" h="640703">
                  <a:moveTo>
                    <a:pt x="871658" y="320351"/>
                  </a:moveTo>
                  <a:lnTo>
                    <a:pt x="465258" y="0"/>
                  </a:lnTo>
                  <a:lnTo>
                    <a:pt x="465258" y="203200"/>
                  </a:lnTo>
                  <a:lnTo>
                    <a:pt x="0" y="203200"/>
                  </a:lnTo>
                  <a:lnTo>
                    <a:pt x="0" y="437503"/>
                  </a:lnTo>
                  <a:lnTo>
                    <a:pt x="465258" y="437503"/>
                  </a:lnTo>
                  <a:lnTo>
                    <a:pt x="465258" y="640703"/>
                  </a:lnTo>
                  <a:lnTo>
                    <a:pt x="871658" y="320351"/>
                  </a:lnTo>
                  <a:close/>
                </a:path>
              </a:pathLst>
            </a:custGeom>
            <a:solidFill>
              <a:srgbClr val="C8D1D9"/>
            </a:solidFill>
          </p:spPr>
        </p:sp>
        <p:sp>
          <p:nvSpPr>
            <p:cNvPr id="36" name="TextBox 36"/>
            <p:cNvSpPr txBox="1"/>
            <p:nvPr/>
          </p:nvSpPr>
          <p:spPr>
            <a:xfrm>
              <a:off x="0" y="184150"/>
              <a:ext cx="770058" cy="253353"/>
            </a:xfrm>
            <a:prstGeom prst="rect">
              <a:avLst/>
            </a:prstGeom>
          </p:spPr>
          <p:txBody>
            <a:bodyPr lIns="50800" tIns="50800" rIns="50800" bIns="50800" rtlCol="0" anchor="ctr"/>
            <a:lstStyle/>
            <a:p>
              <a:pPr algn="ctr">
                <a:lnSpc>
                  <a:spcPts val="2160"/>
                </a:lnSpc>
              </a:pPr>
              <a:endParaRPr/>
            </a:p>
          </p:txBody>
        </p:sp>
      </p:grpSp>
      <p:grpSp>
        <p:nvGrpSpPr>
          <p:cNvPr id="37" name="Group 37"/>
          <p:cNvGrpSpPr/>
          <p:nvPr/>
        </p:nvGrpSpPr>
        <p:grpSpPr>
          <a:xfrm>
            <a:off x="7582695" y="5643451"/>
            <a:ext cx="961721" cy="706902"/>
            <a:chOff x="0" y="0"/>
            <a:chExt cx="871658" cy="640703"/>
          </a:xfrm>
        </p:grpSpPr>
        <p:sp>
          <p:nvSpPr>
            <p:cNvPr id="38" name="Freeform 38"/>
            <p:cNvSpPr/>
            <p:nvPr/>
          </p:nvSpPr>
          <p:spPr>
            <a:xfrm>
              <a:off x="0" y="0"/>
              <a:ext cx="871658" cy="640703"/>
            </a:xfrm>
            <a:custGeom>
              <a:avLst/>
              <a:gdLst/>
              <a:ahLst/>
              <a:cxnLst/>
              <a:rect l="l" t="t" r="r" b="b"/>
              <a:pathLst>
                <a:path w="871658" h="640703">
                  <a:moveTo>
                    <a:pt x="871658" y="320351"/>
                  </a:moveTo>
                  <a:lnTo>
                    <a:pt x="465258" y="0"/>
                  </a:lnTo>
                  <a:lnTo>
                    <a:pt x="465258" y="203200"/>
                  </a:lnTo>
                  <a:lnTo>
                    <a:pt x="0" y="203200"/>
                  </a:lnTo>
                  <a:lnTo>
                    <a:pt x="0" y="437503"/>
                  </a:lnTo>
                  <a:lnTo>
                    <a:pt x="465258" y="437503"/>
                  </a:lnTo>
                  <a:lnTo>
                    <a:pt x="465258" y="640703"/>
                  </a:lnTo>
                  <a:lnTo>
                    <a:pt x="871658" y="320351"/>
                  </a:lnTo>
                  <a:close/>
                </a:path>
              </a:pathLst>
            </a:custGeom>
            <a:solidFill>
              <a:srgbClr val="C8D1D9"/>
            </a:solidFill>
          </p:spPr>
        </p:sp>
        <p:sp>
          <p:nvSpPr>
            <p:cNvPr id="39" name="TextBox 39"/>
            <p:cNvSpPr txBox="1"/>
            <p:nvPr/>
          </p:nvSpPr>
          <p:spPr>
            <a:xfrm>
              <a:off x="0" y="184150"/>
              <a:ext cx="770058" cy="253353"/>
            </a:xfrm>
            <a:prstGeom prst="rect">
              <a:avLst/>
            </a:prstGeom>
          </p:spPr>
          <p:txBody>
            <a:bodyPr lIns="50800" tIns="50800" rIns="50800" bIns="50800" rtlCol="0" anchor="ctr"/>
            <a:lstStyle/>
            <a:p>
              <a:pPr algn="ctr">
                <a:lnSpc>
                  <a:spcPts val="2160"/>
                </a:lnSpc>
              </a:pPr>
              <a:endParaRPr/>
            </a:p>
          </p:txBody>
        </p:sp>
      </p:grpSp>
      <p:grpSp>
        <p:nvGrpSpPr>
          <p:cNvPr id="40" name="Group 40"/>
          <p:cNvGrpSpPr/>
          <p:nvPr/>
        </p:nvGrpSpPr>
        <p:grpSpPr>
          <a:xfrm>
            <a:off x="9751137" y="5652910"/>
            <a:ext cx="961721" cy="706902"/>
            <a:chOff x="0" y="0"/>
            <a:chExt cx="871658" cy="640703"/>
          </a:xfrm>
        </p:grpSpPr>
        <p:sp>
          <p:nvSpPr>
            <p:cNvPr id="41" name="Freeform 41"/>
            <p:cNvSpPr/>
            <p:nvPr/>
          </p:nvSpPr>
          <p:spPr>
            <a:xfrm>
              <a:off x="0" y="0"/>
              <a:ext cx="871658" cy="640703"/>
            </a:xfrm>
            <a:custGeom>
              <a:avLst/>
              <a:gdLst/>
              <a:ahLst/>
              <a:cxnLst/>
              <a:rect l="l" t="t" r="r" b="b"/>
              <a:pathLst>
                <a:path w="871658" h="640703">
                  <a:moveTo>
                    <a:pt x="871658" y="320351"/>
                  </a:moveTo>
                  <a:lnTo>
                    <a:pt x="465258" y="0"/>
                  </a:lnTo>
                  <a:lnTo>
                    <a:pt x="465258" y="203200"/>
                  </a:lnTo>
                  <a:lnTo>
                    <a:pt x="0" y="203200"/>
                  </a:lnTo>
                  <a:lnTo>
                    <a:pt x="0" y="437503"/>
                  </a:lnTo>
                  <a:lnTo>
                    <a:pt x="465258" y="437503"/>
                  </a:lnTo>
                  <a:lnTo>
                    <a:pt x="465258" y="640703"/>
                  </a:lnTo>
                  <a:lnTo>
                    <a:pt x="871658" y="320351"/>
                  </a:lnTo>
                  <a:close/>
                </a:path>
              </a:pathLst>
            </a:custGeom>
            <a:solidFill>
              <a:srgbClr val="C8D1D9"/>
            </a:solidFill>
          </p:spPr>
        </p:sp>
        <p:sp>
          <p:nvSpPr>
            <p:cNvPr id="42" name="TextBox 42"/>
            <p:cNvSpPr txBox="1"/>
            <p:nvPr/>
          </p:nvSpPr>
          <p:spPr>
            <a:xfrm>
              <a:off x="0" y="184150"/>
              <a:ext cx="770058" cy="253353"/>
            </a:xfrm>
            <a:prstGeom prst="rect">
              <a:avLst/>
            </a:prstGeom>
          </p:spPr>
          <p:txBody>
            <a:bodyPr lIns="50800" tIns="50800" rIns="50800" bIns="50800" rtlCol="0" anchor="ctr"/>
            <a:lstStyle/>
            <a:p>
              <a:pPr algn="ctr">
                <a:lnSpc>
                  <a:spcPts val="2160"/>
                </a:lnSpc>
              </a:pPr>
              <a:endParaRPr/>
            </a:p>
          </p:txBody>
        </p:sp>
      </p:grpSp>
      <p:grpSp>
        <p:nvGrpSpPr>
          <p:cNvPr id="43" name="Group 43"/>
          <p:cNvGrpSpPr/>
          <p:nvPr/>
        </p:nvGrpSpPr>
        <p:grpSpPr>
          <a:xfrm>
            <a:off x="3834830" y="5494510"/>
            <a:ext cx="1327019" cy="1708036"/>
            <a:chOff x="0" y="0"/>
            <a:chExt cx="349503" cy="449853"/>
          </a:xfrm>
        </p:grpSpPr>
        <p:sp>
          <p:nvSpPr>
            <p:cNvPr id="44" name="Freeform 44"/>
            <p:cNvSpPr/>
            <p:nvPr/>
          </p:nvSpPr>
          <p:spPr>
            <a:xfrm>
              <a:off x="0" y="0"/>
              <a:ext cx="349503" cy="449853"/>
            </a:xfrm>
            <a:custGeom>
              <a:avLst/>
              <a:gdLst/>
              <a:ahLst/>
              <a:cxnLst/>
              <a:rect l="l" t="t" r="r" b="b"/>
              <a:pathLst>
                <a:path w="349503" h="449853">
                  <a:moveTo>
                    <a:pt x="0" y="0"/>
                  </a:moveTo>
                  <a:lnTo>
                    <a:pt x="349503" y="0"/>
                  </a:lnTo>
                  <a:lnTo>
                    <a:pt x="349503" y="449853"/>
                  </a:lnTo>
                  <a:lnTo>
                    <a:pt x="0" y="449853"/>
                  </a:lnTo>
                  <a:close/>
                </a:path>
              </a:pathLst>
            </a:custGeom>
            <a:solidFill>
              <a:srgbClr val="C8D1D9"/>
            </a:solidFill>
          </p:spPr>
        </p:sp>
        <p:sp>
          <p:nvSpPr>
            <p:cNvPr id="45" name="TextBox 45"/>
            <p:cNvSpPr txBox="1"/>
            <p:nvPr/>
          </p:nvSpPr>
          <p:spPr>
            <a:xfrm>
              <a:off x="0" y="-19050"/>
              <a:ext cx="349503" cy="468903"/>
            </a:xfrm>
            <a:prstGeom prst="rect">
              <a:avLst/>
            </a:prstGeom>
          </p:spPr>
          <p:txBody>
            <a:bodyPr lIns="50800" tIns="50800" rIns="50800" bIns="50800" rtlCol="0" anchor="ctr"/>
            <a:lstStyle/>
            <a:p>
              <a:pPr algn="ctr">
                <a:lnSpc>
                  <a:spcPts val="2160"/>
                </a:lnSpc>
              </a:pPr>
              <a:r>
                <a:rPr lang="en-US" sz="1800">
                  <a:solidFill>
                    <a:srgbClr val="000000"/>
                  </a:solidFill>
                  <a:latin typeface="Arimo"/>
                  <a:ea typeface="Arimo"/>
                  <a:cs typeface="Arimo"/>
                  <a:sym typeface="Arimo"/>
                </a:rPr>
                <a:t>Secure Automated Collection</a:t>
              </a:r>
            </a:p>
          </p:txBody>
        </p:sp>
      </p:grpSp>
      <p:grpSp>
        <p:nvGrpSpPr>
          <p:cNvPr id="46" name="Group 46"/>
          <p:cNvGrpSpPr/>
          <p:nvPr/>
        </p:nvGrpSpPr>
        <p:grpSpPr>
          <a:xfrm>
            <a:off x="6076249" y="5505795"/>
            <a:ext cx="1506445" cy="1708036"/>
            <a:chOff x="0" y="0"/>
            <a:chExt cx="396759" cy="449853"/>
          </a:xfrm>
        </p:grpSpPr>
        <p:sp>
          <p:nvSpPr>
            <p:cNvPr id="47" name="Freeform 47"/>
            <p:cNvSpPr/>
            <p:nvPr/>
          </p:nvSpPr>
          <p:spPr>
            <a:xfrm>
              <a:off x="0" y="0"/>
              <a:ext cx="396759" cy="449853"/>
            </a:xfrm>
            <a:custGeom>
              <a:avLst/>
              <a:gdLst/>
              <a:ahLst/>
              <a:cxnLst/>
              <a:rect l="l" t="t" r="r" b="b"/>
              <a:pathLst>
                <a:path w="396759" h="449853">
                  <a:moveTo>
                    <a:pt x="0" y="0"/>
                  </a:moveTo>
                  <a:lnTo>
                    <a:pt x="396759" y="0"/>
                  </a:lnTo>
                  <a:lnTo>
                    <a:pt x="396759" y="449853"/>
                  </a:lnTo>
                  <a:lnTo>
                    <a:pt x="0" y="449853"/>
                  </a:lnTo>
                  <a:close/>
                </a:path>
              </a:pathLst>
            </a:custGeom>
            <a:solidFill>
              <a:srgbClr val="C8D1D9"/>
            </a:solidFill>
          </p:spPr>
        </p:sp>
        <p:sp>
          <p:nvSpPr>
            <p:cNvPr id="48" name="TextBox 48"/>
            <p:cNvSpPr txBox="1"/>
            <p:nvPr/>
          </p:nvSpPr>
          <p:spPr>
            <a:xfrm>
              <a:off x="0" y="-19050"/>
              <a:ext cx="396759" cy="468903"/>
            </a:xfrm>
            <a:prstGeom prst="rect">
              <a:avLst/>
            </a:prstGeom>
          </p:spPr>
          <p:txBody>
            <a:bodyPr lIns="50800" tIns="50800" rIns="50800" bIns="50800" rtlCol="0" anchor="ctr"/>
            <a:lstStyle/>
            <a:p>
              <a:pPr algn="ctr">
                <a:lnSpc>
                  <a:spcPts val="2160"/>
                </a:lnSpc>
              </a:pPr>
              <a:r>
                <a:rPr lang="en-US" sz="1800">
                  <a:solidFill>
                    <a:srgbClr val="000000"/>
                  </a:solidFill>
                  <a:latin typeface="Arimo"/>
                  <a:ea typeface="Arimo"/>
                  <a:cs typeface="Arimo"/>
                  <a:sym typeface="Arimo"/>
                </a:rPr>
                <a:t>Profile Construction</a:t>
              </a:r>
            </a:p>
          </p:txBody>
        </p:sp>
      </p:grpSp>
      <p:grpSp>
        <p:nvGrpSpPr>
          <p:cNvPr id="49" name="Group 49"/>
          <p:cNvGrpSpPr/>
          <p:nvPr/>
        </p:nvGrpSpPr>
        <p:grpSpPr>
          <a:xfrm>
            <a:off x="8522356" y="5494510"/>
            <a:ext cx="1243287" cy="1708036"/>
            <a:chOff x="0" y="0"/>
            <a:chExt cx="327450" cy="449853"/>
          </a:xfrm>
        </p:grpSpPr>
        <p:sp>
          <p:nvSpPr>
            <p:cNvPr id="50" name="Freeform 50"/>
            <p:cNvSpPr/>
            <p:nvPr/>
          </p:nvSpPr>
          <p:spPr>
            <a:xfrm>
              <a:off x="0" y="0"/>
              <a:ext cx="327450" cy="449853"/>
            </a:xfrm>
            <a:custGeom>
              <a:avLst/>
              <a:gdLst/>
              <a:ahLst/>
              <a:cxnLst/>
              <a:rect l="l" t="t" r="r" b="b"/>
              <a:pathLst>
                <a:path w="327450" h="449853">
                  <a:moveTo>
                    <a:pt x="0" y="0"/>
                  </a:moveTo>
                  <a:lnTo>
                    <a:pt x="327450" y="0"/>
                  </a:lnTo>
                  <a:lnTo>
                    <a:pt x="327450" y="449853"/>
                  </a:lnTo>
                  <a:lnTo>
                    <a:pt x="0" y="449853"/>
                  </a:lnTo>
                  <a:close/>
                </a:path>
              </a:pathLst>
            </a:custGeom>
            <a:solidFill>
              <a:srgbClr val="C8D1D9"/>
            </a:solidFill>
          </p:spPr>
        </p:sp>
        <p:sp>
          <p:nvSpPr>
            <p:cNvPr id="51" name="TextBox 51"/>
            <p:cNvSpPr txBox="1"/>
            <p:nvPr/>
          </p:nvSpPr>
          <p:spPr>
            <a:xfrm>
              <a:off x="0" y="-19050"/>
              <a:ext cx="327450" cy="468903"/>
            </a:xfrm>
            <a:prstGeom prst="rect">
              <a:avLst/>
            </a:prstGeom>
          </p:spPr>
          <p:txBody>
            <a:bodyPr lIns="50800" tIns="50800" rIns="50800" bIns="50800" rtlCol="0" anchor="ctr"/>
            <a:lstStyle/>
            <a:p>
              <a:pPr algn="ctr">
                <a:lnSpc>
                  <a:spcPts val="2160"/>
                </a:lnSpc>
              </a:pPr>
              <a:r>
                <a:rPr lang="en-US" sz="1800">
                  <a:solidFill>
                    <a:srgbClr val="000000"/>
                  </a:solidFill>
                  <a:latin typeface="Arimo"/>
                  <a:ea typeface="Arimo"/>
                  <a:cs typeface="Arimo"/>
                  <a:sym typeface="Arimo"/>
                </a:rPr>
                <a:t>Multi-Model AI analysis</a:t>
              </a:r>
            </a:p>
          </p:txBody>
        </p:sp>
      </p:grpSp>
      <p:grpSp>
        <p:nvGrpSpPr>
          <p:cNvPr id="52" name="Group 52"/>
          <p:cNvGrpSpPr/>
          <p:nvPr/>
        </p:nvGrpSpPr>
        <p:grpSpPr>
          <a:xfrm>
            <a:off x="10680044" y="5494510"/>
            <a:ext cx="1499433" cy="1708036"/>
            <a:chOff x="0" y="0"/>
            <a:chExt cx="394912" cy="449853"/>
          </a:xfrm>
        </p:grpSpPr>
        <p:sp>
          <p:nvSpPr>
            <p:cNvPr id="53" name="Freeform 53"/>
            <p:cNvSpPr/>
            <p:nvPr/>
          </p:nvSpPr>
          <p:spPr>
            <a:xfrm>
              <a:off x="0" y="0"/>
              <a:ext cx="394912" cy="449853"/>
            </a:xfrm>
            <a:custGeom>
              <a:avLst/>
              <a:gdLst/>
              <a:ahLst/>
              <a:cxnLst/>
              <a:rect l="l" t="t" r="r" b="b"/>
              <a:pathLst>
                <a:path w="394912" h="449853">
                  <a:moveTo>
                    <a:pt x="0" y="0"/>
                  </a:moveTo>
                  <a:lnTo>
                    <a:pt x="394912" y="0"/>
                  </a:lnTo>
                  <a:lnTo>
                    <a:pt x="394912" y="449853"/>
                  </a:lnTo>
                  <a:lnTo>
                    <a:pt x="0" y="449853"/>
                  </a:lnTo>
                  <a:close/>
                </a:path>
              </a:pathLst>
            </a:custGeom>
            <a:solidFill>
              <a:srgbClr val="C8D1D9"/>
            </a:solidFill>
          </p:spPr>
        </p:sp>
        <p:sp>
          <p:nvSpPr>
            <p:cNvPr id="54" name="TextBox 54"/>
            <p:cNvSpPr txBox="1"/>
            <p:nvPr/>
          </p:nvSpPr>
          <p:spPr>
            <a:xfrm>
              <a:off x="0" y="-19050"/>
              <a:ext cx="394912" cy="468903"/>
            </a:xfrm>
            <a:prstGeom prst="rect">
              <a:avLst/>
            </a:prstGeom>
          </p:spPr>
          <p:txBody>
            <a:bodyPr lIns="50800" tIns="50800" rIns="50800" bIns="50800" rtlCol="0" anchor="ctr"/>
            <a:lstStyle/>
            <a:p>
              <a:pPr algn="ctr">
                <a:lnSpc>
                  <a:spcPts val="2160"/>
                </a:lnSpc>
              </a:pPr>
              <a:r>
                <a:rPr lang="en-US" sz="1800">
                  <a:solidFill>
                    <a:srgbClr val="000000"/>
                  </a:solidFill>
                  <a:latin typeface="Arimo"/>
                  <a:ea typeface="Arimo"/>
                  <a:cs typeface="Arimo"/>
                  <a:sym typeface="Arimo"/>
                </a:rPr>
                <a:t>Knowledge Graph Construction</a:t>
              </a:r>
            </a:p>
          </p:txBody>
        </p:sp>
      </p:grpSp>
      <p:grpSp>
        <p:nvGrpSpPr>
          <p:cNvPr id="55" name="Group 55"/>
          <p:cNvGrpSpPr/>
          <p:nvPr/>
        </p:nvGrpSpPr>
        <p:grpSpPr>
          <a:xfrm>
            <a:off x="12144679" y="5652910"/>
            <a:ext cx="961721" cy="706902"/>
            <a:chOff x="0" y="0"/>
            <a:chExt cx="871658" cy="640703"/>
          </a:xfrm>
        </p:grpSpPr>
        <p:sp>
          <p:nvSpPr>
            <p:cNvPr id="56" name="Freeform 56"/>
            <p:cNvSpPr/>
            <p:nvPr/>
          </p:nvSpPr>
          <p:spPr>
            <a:xfrm>
              <a:off x="0" y="0"/>
              <a:ext cx="871658" cy="640703"/>
            </a:xfrm>
            <a:custGeom>
              <a:avLst/>
              <a:gdLst/>
              <a:ahLst/>
              <a:cxnLst/>
              <a:rect l="l" t="t" r="r" b="b"/>
              <a:pathLst>
                <a:path w="871658" h="640703">
                  <a:moveTo>
                    <a:pt x="871658" y="320351"/>
                  </a:moveTo>
                  <a:lnTo>
                    <a:pt x="465258" y="0"/>
                  </a:lnTo>
                  <a:lnTo>
                    <a:pt x="465258" y="203200"/>
                  </a:lnTo>
                  <a:lnTo>
                    <a:pt x="0" y="203200"/>
                  </a:lnTo>
                  <a:lnTo>
                    <a:pt x="0" y="437503"/>
                  </a:lnTo>
                  <a:lnTo>
                    <a:pt x="465258" y="437503"/>
                  </a:lnTo>
                  <a:lnTo>
                    <a:pt x="465258" y="640703"/>
                  </a:lnTo>
                  <a:lnTo>
                    <a:pt x="871658" y="320351"/>
                  </a:lnTo>
                  <a:close/>
                </a:path>
              </a:pathLst>
            </a:custGeom>
            <a:solidFill>
              <a:srgbClr val="C8D1D9"/>
            </a:solidFill>
          </p:spPr>
        </p:sp>
        <p:sp>
          <p:nvSpPr>
            <p:cNvPr id="57" name="TextBox 57"/>
            <p:cNvSpPr txBox="1"/>
            <p:nvPr/>
          </p:nvSpPr>
          <p:spPr>
            <a:xfrm>
              <a:off x="0" y="184150"/>
              <a:ext cx="770058" cy="253353"/>
            </a:xfrm>
            <a:prstGeom prst="rect">
              <a:avLst/>
            </a:prstGeom>
          </p:spPr>
          <p:txBody>
            <a:bodyPr lIns="50800" tIns="50800" rIns="50800" bIns="50800" rtlCol="0" anchor="ctr"/>
            <a:lstStyle/>
            <a:p>
              <a:pPr algn="ctr">
                <a:lnSpc>
                  <a:spcPts val="2160"/>
                </a:lnSpc>
              </a:pPr>
              <a:endParaRPr/>
            </a:p>
          </p:txBody>
        </p:sp>
      </p:grpSp>
      <p:sp>
        <p:nvSpPr>
          <p:cNvPr id="58" name="TextBox 57"/>
          <p:cNvSpPr txBox="1"/>
          <p:nvPr/>
        </p:nvSpPr>
        <p:spPr>
          <a:xfrm>
            <a:off x="2240280" y="1691640"/>
            <a:ext cx="5486400" cy="365760"/>
          </a:xfrm>
          <a:prstGeom prst="rect">
            <a:avLst/>
          </a:prstGeom>
          <a:noFill/>
        </p:spPr>
        <p:txBody>
          <a:bodyPr wrap="square">
            <a:spAutoFit/>
          </a:bodyPr>
          <a:lstStyle/>
          <a:p>
            <a:pPr algn="l">
              <a:defRPr sz="2100" b="1">
                <a:solidFill>
                  <a:srgbClr val="142D3E"/>
                </a:solidFill>
                <a:latin typeface="Aptos"/>
              </a:defRPr>
            </a:pPr>
            <a:r>
              <a:t>TECHNOLOGY STACK</a:t>
            </a:r>
          </a:p>
        </p:txBody>
      </p:sp>
      <p:graphicFrame>
        <p:nvGraphicFramePr>
          <p:cNvPr id="59" name="Table 58"/>
          <p:cNvGraphicFramePr>
            <a:graphicFrameLocks noGrp="1"/>
          </p:cNvGraphicFramePr>
          <p:nvPr>
            <p:extLst>
              <p:ext uri="{D42A27DB-BD31-4B8C-83A1-F6EECF244321}">
                <p14:modId xmlns:p14="http://schemas.microsoft.com/office/powerpoint/2010/main" val="1827963626"/>
              </p:ext>
            </p:extLst>
          </p:nvPr>
        </p:nvGraphicFramePr>
        <p:xfrm>
          <a:off x="2268227" y="2090576"/>
          <a:ext cx="11590655" cy="3004458"/>
        </p:xfrm>
        <a:graphic>
          <a:graphicData uri="http://schemas.openxmlformats.org/drawingml/2006/table">
            <a:tbl>
              <a:tblPr firstRow="1" bandRow="1">
                <a:tableStyleId>{5C22544A-7EE6-4342-B048-85BDC9FD1C3A}</a:tableStyleId>
              </a:tblPr>
              <a:tblGrid>
                <a:gridCol w="1715135">
                  <a:extLst>
                    <a:ext uri="{9D8B030D-6E8A-4147-A177-3AD203B41FA5}">
                      <a16:colId xmlns:a16="http://schemas.microsoft.com/office/drawing/2014/main" val="20000"/>
                    </a:ext>
                  </a:extLst>
                </a:gridCol>
                <a:gridCol w="9875520">
                  <a:extLst>
                    <a:ext uri="{9D8B030D-6E8A-4147-A177-3AD203B41FA5}">
                      <a16:colId xmlns:a16="http://schemas.microsoft.com/office/drawing/2014/main" val="20001"/>
                    </a:ext>
                  </a:extLst>
                </a:gridCol>
              </a:tblGrid>
              <a:tr h="424542">
                <a:tc>
                  <a:txBody>
                    <a:bodyPr/>
                    <a:lstStyle/>
                    <a:p>
                      <a:pPr>
                        <a:defRPr sz="1400" b="1">
                          <a:solidFill>
                            <a:srgbClr val="FFFFFF"/>
                          </a:solidFill>
                          <a:latin typeface="Aptos"/>
                        </a:defRPr>
                      </a:pPr>
                      <a:r>
                        <a:rPr sz="2400" dirty="0"/>
                        <a:t>Layer</a:t>
                      </a:r>
                    </a:p>
                  </a:txBody>
                  <a:tcPr marL="73152" marR="73152">
                    <a:solidFill>
                      <a:srgbClr val="247E8B"/>
                    </a:solidFill>
                  </a:tcPr>
                </a:tc>
                <a:tc>
                  <a:txBody>
                    <a:bodyPr/>
                    <a:lstStyle/>
                    <a:p>
                      <a:pPr>
                        <a:defRPr sz="1400" b="1">
                          <a:solidFill>
                            <a:srgbClr val="FFFFFF"/>
                          </a:solidFill>
                          <a:latin typeface="Aptos"/>
                        </a:defRPr>
                      </a:pPr>
                      <a:r>
                        <a:rPr sz="2400" dirty="0"/>
                        <a:t>Technology</a:t>
                      </a:r>
                    </a:p>
                  </a:txBody>
                  <a:tcPr marL="73152" marR="73152">
                    <a:solidFill>
                      <a:srgbClr val="247E8B"/>
                    </a:solidFill>
                  </a:tcPr>
                </a:tc>
                <a:extLst>
                  <a:ext uri="{0D108BD9-81ED-4DB2-BD59-A6C34878D82A}">
                    <a16:rowId xmlns:a16="http://schemas.microsoft.com/office/drawing/2014/main" val="10000"/>
                  </a:ext>
                </a:extLst>
              </a:tr>
              <a:tr h="424542">
                <a:tc>
                  <a:txBody>
                    <a:bodyPr/>
                    <a:lstStyle/>
                    <a:p>
                      <a:pPr>
                        <a:defRPr sz="1300" b="0">
                          <a:solidFill>
                            <a:srgbClr val="142D3E"/>
                          </a:solidFill>
                          <a:latin typeface="Aptos"/>
                        </a:defRPr>
                      </a:pPr>
                      <a:r>
                        <a:rPr sz="2000" dirty="0"/>
                        <a:t>Frontend</a:t>
                      </a:r>
                    </a:p>
                  </a:txBody>
                  <a:tcPr marL="73152" marR="73152">
                    <a:solidFill>
                      <a:srgbClr val="EBF6F7"/>
                    </a:solidFill>
                  </a:tcPr>
                </a:tc>
                <a:tc>
                  <a:txBody>
                    <a:bodyPr/>
                    <a:lstStyle/>
                    <a:p>
                      <a:pPr>
                        <a:defRPr sz="1300" b="0">
                          <a:solidFill>
                            <a:srgbClr val="142D3E"/>
                          </a:solidFill>
                          <a:latin typeface="Aptos"/>
                        </a:defRPr>
                      </a:pPr>
                      <a:r>
                        <a:rPr sz="2000" dirty="0"/>
                        <a:t>Electron • React • TypeScript</a:t>
                      </a:r>
                    </a:p>
                  </a:txBody>
                  <a:tcPr marL="73152" marR="73152">
                    <a:solidFill>
                      <a:srgbClr val="EBF6F7"/>
                    </a:solidFill>
                  </a:tcPr>
                </a:tc>
                <a:extLst>
                  <a:ext uri="{0D108BD9-81ED-4DB2-BD59-A6C34878D82A}">
                    <a16:rowId xmlns:a16="http://schemas.microsoft.com/office/drawing/2014/main" val="10001"/>
                  </a:ext>
                </a:extLst>
              </a:tr>
              <a:tr h="424542">
                <a:tc>
                  <a:txBody>
                    <a:bodyPr/>
                    <a:lstStyle/>
                    <a:p>
                      <a:pPr>
                        <a:defRPr sz="1300" b="0">
                          <a:solidFill>
                            <a:srgbClr val="142D3E"/>
                          </a:solidFill>
                          <a:latin typeface="Aptos"/>
                        </a:defRPr>
                      </a:pPr>
                      <a:r>
                        <a:rPr sz="2000" dirty="0"/>
                        <a:t>Core Services</a:t>
                      </a:r>
                    </a:p>
                  </a:txBody>
                  <a:tcPr marL="73152" marR="73152">
                    <a:solidFill>
                      <a:srgbClr val="FFFFFF"/>
                    </a:solidFill>
                  </a:tcPr>
                </a:tc>
                <a:tc>
                  <a:txBody>
                    <a:bodyPr/>
                    <a:lstStyle/>
                    <a:p>
                      <a:pPr>
                        <a:defRPr sz="1300" b="0">
                          <a:solidFill>
                            <a:srgbClr val="142D3E"/>
                          </a:solidFill>
                          <a:latin typeface="Aptos"/>
                        </a:defRPr>
                      </a:pPr>
                      <a:r>
                        <a:rPr sz="2000" dirty="0"/>
                        <a:t>Go — crawling &amp; concurrent collection</a:t>
                      </a:r>
                    </a:p>
                  </a:txBody>
                  <a:tcPr marL="73152" marR="73152">
                    <a:solidFill>
                      <a:srgbClr val="FFFFFF"/>
                    </a:solidFill>
                  </a:tcPr>
                </a:tc>
                <a:extLst>
                  <a:ext uri="{0D108BD9-81ED-4DB2-BD59-A6C34878D82A}">
                    <a16:rowId xmlns:a16="http://schemas.microsoft.com/office/drawing/2014/main" val="10002"/>
                  </a:ext>
                </a:extLst>
              </a:tr>
              <a:tr h="424542">
                <a:tc>
                  <a:txBody>
                    <a:bodyPr/>
                    <a:lstStyle/>
                    <a:p>
                      <a:pPr>
                        <a:defRPr sz="1300" b="0">
                          <a:solidFill>
                            <a:srgbClr val="142D3E"/>
                          </a:solidFill>
                          <a:latin typeface="Aptos"/>
                        </a:defRPr>
                      </a:pPr>
                      <a:r>
                        <a:rPr sz="2000" dirty="0"/>
                        <a:t>AI Backend</a:t>
                      </a:r>
                    </a:p>
                  </a:txBody>
                  <a:tcPr marL="73152" marR="73152">
                    <a:solidFill>
                      <a:srgbClr val="EBF6F7"/>
                    </a:solidFill>
                  </a:tcPr>
                </a:tc>
                <a:tc>
                  <a:txBody>
                    <a:bodyPr/>
                    <a:lstStyle/>
                    <a:p>
                      <a:pPr>
                        <a:defRPr sz="1300" b="0">
                          <a:solidFill>
                            <a:srgbClr val="142D3E"/>
                          </a:solidFill>
                          <a:latin typeface="Aptos"/>
                        </a:defRPr>
                      </a:pPr>
                      <a:r>
                        <a:rPr sz="2000" dirty="0"/>
                        <a:t>Python • </a:t>
                      </a:r>
                      <a:r>
                        <a:rPr sz="2000" dirty="0" err="1"/>
                        <a:t>FastAPI</a:t>
                      </a:r>
                      <a:r>
                        <a:rPr sz="2000" dirty="0"/>
                        <a:t> • </a:t>
                      </a:r>
                      <a:r>
                        <a:rPr sz="2000" dirty="0" err="1"/>
                        <a:t>PyTorch</a:t>
                      </a:r>
                      <a:r>
                        <a:rPr sz="2000" dirty="0"/>
                        <a:t> • Transformers • LLMs</a:t>
                      </a:r>
                    </a:p>
                  </a:txBody>
                  <a:tcPr marL="73152" marR="73152">
                    <a:solidFill>
                      <a:srgbClr val="EBF6F7"/>
                    </a:solidFill>
                  </a:tcPr>
                </a:tc>
                <a:extLst>
                  <a:ext uri="{0D108BD9-81ED-4DB2-BD59-A6C34878D82A}">
                    <a16:rowId xmlns:a16="http://schemas.microsoft.com/office/drawing/2014/main" val="10003"/>
                  </a:ext>
                </a:extLst>
              </a:tr>
              <a:tr h="424542">
                <a:tc>
                  <a:txBody>
                    <a:bodyPr/>
                    <a:lstStyle/>
                    <a:p>
                      <a:pPr>
                        <a:defRPr sz="1300" b="0">
                          <a:solidFill>
                            <a:srgbClr val="142D3E"/>
                          </a:solidFill>
                          <a:latin typeface="Aptos"/>
                        </a:defRPr>
                      </a:pPr>
                      <a:r>
                        <a:rPr sz="2000"/>
                        <a:t>Data Layer</a:t>
                      </a:r>
                    </a:p>
                  </a:txBody>
                  <a:tcPr marL="73152" marR="73152">
                    <a:solidFill>
                      <a:srgbClr val="FFFFFF"/>
                    </a:solidFill>
                  </a:tcPr>
                </a:tc>
                <a:tc>
                  <a:txBody>
                    <a:bodyPr/>
                    <a:lstStyle/>
                    <a:p>
                      <a:pPr>
                        <a:defRPr sz="1300" b="0">
                          <a:solidFill>
                            <a:srgbClr val="142D3E"/>
                          </a:solidFill>
                          <a:latin typeface="Aptos"/>
                        </a:defRPr>
                      </a:pPr>
                      <a:r>
                        <a:rPr sz="2000" dirty="0"/>
                        <a:t>Neo4j • PostgreSQL • Elasticsearch</a:t>
                      </a:r>
                    </a:p>
                  </a:txBody>
                  <a:tcPr marL="73152" marR="73152">
                    <a:solidFill>
                      <a:srgbClr val="FFFFFF"/>
                    </a:solidFill>
                  </a:tcPr>
                </a:tc>
                <a:extLst>
                  <a:ext uri="{0D108BD9-81ED-4DB2-BD59-A6C34878D82A}">
                    <a16:rowId xmlns:a16="http://schemas.microsoft.com/office/drawing/2014/main" val="10004"/>
                  </a:ext>
                </a:extLst>
              </a:tr>
              <a:tr h="424542">
                <a:tc>
                  <a:txBody>
                    <a:bodyPr/>
                    <a:lstStyle/>
                    <a:p>
                      <a:pPr>
                        <a:defRPr sz="1300" b="0">
                          <a:solidFill>
                            <a:srgbClr val="142D3E"/>
                          </a:solidFill>
                          <a:latin typeface="Aptos"/>
                        </a:defRPr>
                      </a:pPr>
                      <a:r>
                        <a:rPr sz="2000"/>
                        <a:t>Collection</a:t>
                      </a:r>
                    </a:p>
                  </a:txBody>
                  <a:tcPr marL="73152" marR="73152">
                    <a:solidFill>
                      <a:srgbClr val="EBF6F7"/>
                    </a:solidFill>
                  </a:tcPr>
                </a:tc>
                <a:tc>
                  <a:txBody>
                    <a:bodyPr/>
                    <a:lstStyle/>
                    <a:p>
                      <a:pPr>
                        <a:defRPr sz="1300" b="0">
                          <a:solidFill>
                            <a:srgbClr val="142D3E"/>
                          </a:solidFill>
                          <a:latin typeface="Aptos"/>
                        </a:defRPr>
                      </a:pPr>
                      <a:r>
                        <a:rPr sz="2000" dirty="0"/>
                        <a:t>Tor proxy • OSINT APIs • web crawlers</a:t>
                      </a:r>
                    </a:p>
                  </a:txBody>
                  <a:tcPr marL="73152" marR="73152">
                    <a:solidFill>
                      <a:srgbClr val="EBF6F7"/>
                    </a:solidFill>
                  </a:tcPr>
                </a:tc>
                <a:extLst>
                  <a:ext uri="{0D108BD9-81ED-4DB2-BD59-A6C34878D82A}">
                    <a16:rowId xmlns:a16="http://schemas.microsoft.com/office/drawing/2014/main" val="10005"/>
                  </a:ext>
                </a:extLst>
              </a:tr>
              <a:tr h="424548">
                <a:tc>
                  <a:txBody>
                    <a:bodyPr/>
                    <a:lstStyle/>
                    <a:p>
                      <a:pPr>
                        <a:defRPr sz="1300" b="0">
                          <a:solidFill>
                            <a:srgbClr val="142D3E"/>
                          </a:solidFill>
                          <a:latin typeface="Aptos"/>
                        </a:defRPr>
                      </a:pPr>
                      <a:r>
                        <a:rPr sz="2000" dirty="0"/>
                        <a:t>Deployment</a:t>
                      </a:r>
                    </a:p>
                  </a:txBody>
                  <a:tcPr marL="73152" marR="73152">
                    <a:solidFill>
                      <a:srgbClr val="FFFFFF"/>
                    </a:solidFill>
                  </a:tcPr>
                </a:tc>
                <a:tc>
                  <a:txBody>
                    <a:bodyPr/>
                    <a:lstStyle/>
                    <a:p>
                      <a:pPr>
                        <a:defRPr sz="1300" b="0">
                          <a:solidFill>
                            <a:srgbClr val="142D3E"/>
                          </a:solidFill>
                          <a:latin typeface="Aptos"/>
                        </a:defRPr>
                      </a:pPr>
                      <a:r>
                        <a:rPr sz="2000" dirty="0"/>
                        <a:t>Docker • VPS • optional NVIDIA GPU</a:t>
                      </a:r>
                    </a:p>
                  </a:txBody>
                  <a:tcPr marL="73152" marR="73152">
                    <a:solidFill>
                      <a:srgbClr val="FFFFFF"/>
                    </a:solidFill>
                  </a:tcPr>
                </a:tc>
                <a:extLst>
                  <a:ext uri="{0D108BD9-81ED-4DB2-BD59-A6C34878D82A}">
                    <a16:rowId xmlns:a16="http://schemas.microsoft.com/office/drawing/2014/main" val="10006"/>
                  </a:ext>
                </a:extLst>
              </a:tr>
            </a:tbl>
          </a:graphicData>
        </a:graphic>
      </p:graphicFrame>
      <p:sp>
        <p:nvSpPr>
          <p:cNvPr id="60" name="TextBox 59"/>
          <p:cNvSpPr txBox="1"/>
          <p:nvPr/>
        </p:nvSpPr>
        <p:spPr>
          <a:xfrm>
            <a:off x="1645920" y="5074920"/>
            <a:ext cx="12801600" cy="320040"/>
          </a:xfrm>
          <a:prstGeom prst="rect">
            <a:avLst/>
          </a:prstGeom>
          <a:noFill/>
        </p:spPr>
        <p:txBody>
          <a:bodyPr wrap="square">
            <a:spAutoFit/>
          </a:bodyPr>
          <a:lstStyle/>
          <a:p>
            <a:pPr algn="l">
              <a:defRPr sz="1800" b="1">
                <a:solidFill>
                  <a:srgbClr val="142D3E"/>
                </a:solidFill>
                <a:latin typeface="Aptos"/>
              </a:defRPr>
            </a:pPr>
            <a:r>
              <a:t>IMPLEMENTATION METHODOLOGY</a:t>
            </a:r>
          </a:p>
        </p:txBody>
      </p:sp>
      <p:sp>
        <p:nvSpPr>
          <p:cNvPr id="61" name="Rounded Rectangle 60"/>
          <p:cNvSpPr/>
          <p:nvPr/>
        </p:nvSpPr>
        <p:spPr>
          <a:xfrm>
            <a:off x="1965960" y="7360920"/>
            <a:ext cx="2057400" cy="68580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42D3E"/>
                </a:solidFill>
                <a:latin typeface="Aptos"/>
              </a:defRPr>
            </a:pPr>
            <a:r>
              <a:rPr sz="1600" dirty="0"/>
              <a:t>Secure Automated</a:t>
            </a:r>
            <a:br>
              <a:rPr sz="1600" dirty="0"/>
            </a:br>
            <a:r>
              <a:rPr sz="1600" dirty="0"/>
              <a:t>Collection</a:t>
            </a:r>
          </a:p>
        </p:txBody>
      </p:sp>
      <p:sp>
        <p:nvSpPr>
          <p:cNvPr id="62" name="Rounded Rectangle 61"/>
          <p:cNvSpPr/>
          <p:nvPr/>
        </p:nvSpPr>
        <p:spPr>
          <a:xfrm>
            <a:off x="4572000" y="7360920"/>
            <a:ext cx="2057400" cy="68580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42D3E"/>
                </a:solidFill>
                <a:latin typeface="Aptos"/>
              </a:defRPr>
            </a:pPr>
            <a:r>
              <a:rPr sz="1600" dirty="0"/>
              <a:t>Profile</a:t>
            </a:r>
            <a:br>
              <a:rPr sz="1600" dirty="0"/>
            </a:br>
            <a:r>
              <a:rPr sz="1600" dirty="0"/>
              <a:t>Construction</a:t>
            </a:r>
          </a:p>
        </p:txBody>
      </p:sp>
      <p:sp>
        <p:nvSpPr>
          <p:cNvPr id="63" name="Rounded Rectangle 62"/>
          <p:cNvSpPr/>
          <p:nvPr/>
        </p:nvSpPr>
        <p:spPr>
          <a:xfrm>
            <a:off x="7040880" y="7360920"/>
            <a:ext cx="2057400" cy="68580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42D3E"/>
                </a:solidFill>
                <a:latin typeface="Aptos"/>
              </a:defRPr>
            </a:pPr>
            <a:r>
              <a:rPr sz="1600" dirty="0"/>
              <a:t>Multi-Model</a:t>
            </a:r>
            <a:br>
              <a:rPr sz="1600" dirty="0"/>
            </a:br>
            <a:r>
              <a:rPr sz="1600" dirty="0"/>
              <a:t>AI Analysis</a:t>
            </a:r>
          </a:p>
        </p:txBody>
      </p:sp>
      <p:sp>
        <p:nvSpPr>
          <p:cNvPr id="64" name="Rounded Rectangle 63"/>
          <p:cNvSpPr/>
          <p:nvPr/>
        </p:nvSpPr>
        <p:spPr>
          <a:xfrm>
            <a:off x="9281160" y="7360920"/>
            <a:ext cx="2057400" cy="68580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42D3E"/>
                </a:solidFill>
                <a:latin typeface="Aptos"/>
              </a:defRPr>
            </a:pPr>
            <a:r>
              <a:rPr sz="1600" dirty="0"/>
              <a:t>Knowledge Graph</a:t>
            </a:r>
            <a:br>
              <a:rPr sz="1600" dirty="0"/>
            </a:br>
            <a:r>
              <a:rPr sz="1600" dirty="0"/>
              <a:t>Construction</a:t>
            </a:r>
          </a:p>
        </p:txBody>
      </p:sp>
      <p:sp>
        <p:nvSpPr>
          <p:cNvPr id="65" name="Rounded Rectangle 64"/>
          <p:cNvSpPr/>
          <p:nvPr/>
        </p:nvSpPr>
        <p:spPr>
          <a:xfrm>
            <a:off x="11887200" y="7360920"/>
            <a:ext cx="2057400" cy="68580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42D3E"/>
                </a:solidFill>
                <a:latin typeface="Aptos"/>
              </a:defRPr>
            </a:pPr>
            <a:r>
              <a:rPr sz="1600" dirty="0"/>
              <a:t>Dashboard, Alerts</a:t>
            </a:r>
            <a:br>
              <a:rPr sz="1600" dirty="0"/>
            </a:br>
            <a:r>
              <a:rPr sz="1600" dirty="0"/>
              <a:t>&amp; Reports</a:t>
            </a:r>
          </a:p>
        </p:txBody>
      </p:sp>
      <p:cxnSp>
        <p:nvCxnSpPr>
          <p:cNvPr id="66" name="Connector 65"/>
          <p:cNvCxnSpPr/>
          <p:nvPr/>
        </p:nvCxnSpPr>
        <p:spPr>
          <a:xfrm>
            <a:off x="4023360" y="7708392"/>
            <a:ext cx="548640" cy="0"/>
          </a:xfrm>
          <a:prstGeom prst="line">
            <a:avLst/>
          </a:prstGeom>
          <a:ln w="31750">
            <a:solidFill>
              <a:srgbClr val="247E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629400" y="7708392"/>
            <a:ext cx="411480" cy="0"/>
          </a:xfrm>
          <a:prstGeom prst="line">
            <a:avLst/>
          </a:prstGeom>
          <a:ln w="31750">
            <a:solidFill>
              <a:srgbClr val="247E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098280" y="7708392"/>
            <a:ext cx="182880" cy="0"/>
          </a:xfrm>
          <a:prstGeom prst="line">
            <a:avLst/>
          </a:prstGeom>
          <a:ln w="31750">
            <a:solidFill>
              <a:srgbClr val="247E8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1338560" y="7708392"/>
            <a:ext cx="548640" cy="0"/>
          </a:xfrm>
          <a:prstGeom prst="line">
            <a:avLst/>
          </a:prstGeom>
          <a:ln w="31750">
            <a:solidFill>
              <a:srgbClr val="247E8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545454"/>
                  </a:solidFill>
                  <a:latin typeface="Times New Roman Bold"/>
                  <a:ea typeface="Times New Roman Bold"/>
                  <a:cs typeface="Times New Roman Bold"/>
                  <a:sym typeface="Times New Roman Bold"/>
                </a:rPr>
                <a:t>FEASIBILITY AND VIABILITY</a:t>
              </a:r>
            </a:p>
          </p:txBody>
        </p:sp>
      </p:grpSp>
      <p:grpSp>
        <p:nvGrpSpPr>
          <p:cNvPr id="8" name="Group 8"/>
          <p:cNvGrpSpPr/>
          <p:nvPr/>
        </p:nvGrpSpPr>
        <p:grpSpPr>
          <a:xfrm>
            <a:off x="13106400" y="9534525"/>
            <a:ext cx="4267200" cy="547688"/>
            <a:chOff x="0" y="0"/>
            <a:chExt cx="5689600" cy="730250"/>
          </a:xfrm>
        </p:grpSpPr>
        <p:sp>
          <p:nvSpPr>
            <p:cNvPr id="9" name="Freeform 9"/>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sp>
        <p:sp>
          <p:nvSpPr>
            <p:cNvPr id="10" name="TextBox 10"/>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4</a:t>
              </a:r>
            </a:p>
          </p:txBody>
        </p:sp>
      </p:grpSp>
      <p:grpSp>
        <p:nvGrpSpPr>
          <p:cNvPr id="11" name="Group 11"/>
          <p:cNvGrpSpPr/>
          <p:nvPr/>
        </p:nvGrpSpPr>
        <p:grpSpPr>
          <a:xfrm>
            <a:off x="6227328" y="9532144"/>
            <a:ext cx="4806001" cy="547688"/>
            <a:chOff x="0" y="0"/>
            <a:chExt cx="6408001" cy="730250"/>
          </a:xfrm>
        </p:grpSpPr>
        <p:sp>
          <p:nvSpPr>
            <p:cNvPr id="12" name="Freeform 12"/>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sp>
        <p:sp>
          <p:nvSpPr>
            <p:cNvPr id="13" name="TextBox 13"/>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Bennett University</a:t>
              </a:r>
            </a:p>
          </p:txBody>
        </p:sp>
      </p:grpSp>
      <p:grpSp>
        <p:nvGrpSpPr>
          <p:cNvPr id="14" name="Group 14"/>
          <p:cNvGrpSpPr/>
          <p:nvPr/>
        </p:nvGrpSpPr>
        <p:grpSpPr>
          <a:xfrm>
            <a:off x="475612" y="174449"/>
            <a:ext cx="1915887" cy="1249101"/>
            <a:chOff x="0" y="0"/>
            <a:chExt cx="2554516" cy="1665468"/>
          </a:xfrm>
        </p:grpSpPr>
        <p:sp>
          <p:nvSpPr>
            <p:cNvPr id="15" name="Freeform 15"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6" name="TextBox 16"/>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Vulkans</a:t>
              </a:r>
            </a:p>
          </p:txBody>
        </p:sp>
      </p:grpSp>
      <p:grpSp>
        <p:nvGrpSpPr>
          <p:cNvPr id="17" name="Group 17"/>
          <p:cNvGrpSpPr/>
          <p:nvPr/>
        </p:nvGrpSpPr>
        <p:grpSpPr>
          <a:xfrm>
            <a:off x="14670129" y="2248"/>
            <a:ext cx="3374774" cy="1593504"/>
            <a:chOff x="0" y="0"/>
            <a:chExt cx="4499699" cy="2124672"/>
          </a:xfrm>
        </p:grpSpPr>
        <p:sp>
          <p:nvSpPr>
            <p:cNvPr id="18" name="Freeform 18"/>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19" name="Freeform 19"/>
          <p:cNvSpPr/>
          <p:nvPr/>
        </p:nvSpPr>
        <p:spPr>
          <a:xfrm>
            <a:off x="16277553" y="2728152"/>
            <a:ext cx="1963495" cy="1423534"/>
          </a:xfrm>
          <a:custGeom>
            <a:avLst/>
            <a:gdLst/>
            <a:ahLst/>
            <a:cxnLst/>
            <a:rect l="l" t="t" r="r" b="b"/>
            <a:pathLst>
              <a:path w="1963495" h="1423534">
                <a:moveTo>
                  <a:pt x="0" y="0"/>
                </a:moveTo>
                <a:lnTo>
                  <a:pt x="1963494" y="0"/>
                </a:lnTo>
                <a:lnTo>
                  <a:pt x="1963494" y="1423534"/>
                </a:lnTo>
                <a:lnTo>
                  <a:pt x="0" y="1423534"/>
                </a:lnTo>
                <a:lnTo>
                  <a:pt x="0" y="0"/>
                </a:lnTo>
                <a:close/>
              </a:path>
            </a:pathLst>
          </a:custGeom>
          <a:blipFill>
            <a:blip r:embed="rId5"/>
            <a:stretch>
              <a:fillRect/>
            </a:stretch>
          </a:blipFill>
        </p:spPr>
      </p:sp>
      <p:sp>
        <p:nvSpPr>
          <p:cNvPr id="20" name="Freeform 20"/>
          <p:cNvSpPr/>
          <p:nvPr/>
        </p:nvSpPr>
        <p:spPr>
          <a:xfrm>
            <a:off x="16618355" y="6094786"/>
            <a:ext cx="1510489" cy="1495384"/>
          </a:xfrm>
          <a:custGeom>
            <a:avLst/>
            <a:gdLst/>
            <a:ahLst/>
            <a:cxnLst/>
            <a:rect l="l" t="t" r="r" b="b"/>
            <a:pathLst>
              <a:path w="1510489" h="1495384">
                <a:moveTo>
                  <a:pt x="0" y="0"/>
                </a:moveTo>
                <a:lnTo>
                  <a:pt x="1510490" y="0"/>
                </a:lnTo>
                <a:lnTo>
                  <a:pt x="1510490" y="1495384"/>
                </a:lnTo>
                <a:lnTo>
                  <a:pt x="0" y="149538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1" name="TextBox 20"/>
          <p:cNvSpPr txBox="1"/>
          <p:nvPr/>
        </p:nvSpPr>
        <p:spPr>
          <a:xfrm>
            <a:off x="1417320" y="1828800"/>
            <a:ext cx="4572000" cy="365760"/>
          </a:xfrm>
          <a:prstGeom prst="rect">
            <a:avLst/>
          </a:prstGeom>
          <a:noFill/>
        </p:spPr>
        <p:txBody>
          <a:bodyPr wrap="square">
            <a:spAutoFit/>
          </a:bodyPr>
          <a:lstStyle/>
          <a:p>
            <a:pPr algn="l">
              <a:defRPr sz="2100" b="1">
                <a:solidFill>
                  <a:srgbClr val="142D3E"/>
                </a:solidFill>
                <a:latin typeface="Aptos"/>
              </a:defRPr>
            </a:pPr>
            <a:r>
              <a:t>FEASIBILITY</a:t>
            </a:r>
          </a:p>
        </p:txBody>
      </p:sp>
      <p:sp>
        <p:nvSpPr>
          <p:cNvPr id="22" name="Rounded Rectangle 21"/>
          <p:cNvSpPr/>
          <p:nvPr/>
        </p:nvSpPr>
        <p:spPr>
          <a:xfrm>
            <a:off x="1417320" y="2331720"/>
            <a:ext cx="2971800" cy="566928"/>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D3E"/>
                </a:solidFill>
                <a:latin typeface="Aptos"/>
              </a:defRPr>
            </a:pPr>
            <a:r>
              <a:rPr sz="2000" dirty="0"/>
              <a:t>Open-source stack</a:t>
            </a:r>
          </a:p>
        </p:txBody>
      </p:sp>
      <p:sp>
        <p:nvSpPr>
          <p:cNvPr id="23" name="Rounded Rectangle 22"/>
          <p:cNvSpPr/>
          <p:nvPr/>
        </p:nvSpPr>
        <p:spPr>
          <a:xfrm>
            <a:off x="4526280" y="2331720"/>
            <a:ext cx="10607040" cy="566928"/>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Electron • Go • Python • Tor • Neo4j • AI</a:t>
            </a:r>
          </a:p>
        </p:txBody>
      </p:sp>
      <p:sp>
        <p:nvSpPr>
          <p:cNvPr id="24" name="Rounded Rectangle 23"/>
          <p:cNvSpPr/>
          <p:nvPr/>
        </p:nvSpPr>
        <p:spPr>
          <a:xfrm>
            <a:off x="1417320" y="3081527"/>
            <a:ext cx="2971800" cy="566928"/>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D3E"/>
                </a:solidFill>
                <a:latin typeface="Aptos"/>
              </a:defRPr>
            </a:pPr>
            <a:r>
              <a:rPr sz="2000" dirty="0"/>
              <a:t>Modular design</a:t>
            </a:r>
          </a:p>
        </p:txBody>
      </p:sp>
      <p:sp>
        <p:nvSpPr>
          <p:cNvPr id="25" name="Rounded Rectangle 24"/>
          <p:cNvSpPr/>
          <p:nvPr/>
        </p:nvSpPr>
        <p:spPr>
          <a:xfrm>
            <a:off x="4526280" y="3081527"/>
            <a:ext cx="10607040" cy="566928"/>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Phased development, testing &amp; scaling</a:t>
            </a:r>
          </a:p>
        </p:txBody>
      </p:sp>
      <p:sp>
        <p:nvSpPr>
          <p:cNvPr id="26" name="Rounded Rectangle 25"/>
          <p:cNvSpPr/>
          <p:nvPr/>
        </p:nvSpPr>
        <p:spPr>
          <a:xfrm>
            <a:off x="1417320" y="3831335"/>
            <a:ext cx="2971800" cy="566928"/>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D3E"/>
                </a:solidFill>
                <a:latin typeface="Aptos"/>
              </a:defRPr>
            </a:pPr>
            <a:r>
              <a:rPr sz="2000" dirty="0"/>
              <a:t>Automation</a:t>
            </a:r>
          </a:p>
        </p:txBody>
      </p:sp>
      <p:sp>
        <p:nvSpPr>
          <p:cNvPr id="27" name="Rounded Rectangle 26"/>
          <p:cNvSpPr/>
          <p:nvPr/>
        </p:nvSpPr>
        <p:spPr>
          <a:xfrm>
            <a:off x="4526280" y="3831335"/>
            <a:ext cx="10607040" cy="566928"/>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Less manual effort &amp; investigation time</a:t>
            </a:r>
          </a:p>
        </p:txBody>
      </p:sp>
      <p:sp>
        <p:nvSpPr>
          <p:cNvPr id="28" name="Rounded Rectangle 27"/>
          <p:cNvSpPr/>
          <p:nvPr/>
        </p:nvSpPr>
        <p:spPr>
          <a:xfrm>
            <a:off x="1417320" y="4581144"/>
            <a:ext cx="2971800" cy="566928"/>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D3E"/>
                </a:solidFill>
                <a:latin typeface="Aptos"/>
              </a:defRPr>
            </a:pPr>
            <a:r>
              <a:rPr sz="2000" dirty="0"/>
              <a:t>Deployment</a:t>
            </a:r>
          </a:p>
        </p:txBody>
      </p:sp>
      <p:sp>
        <p:nvSpPr>
          <p:cNvPr id="29" name="Rounded Rectangle 28"/>
          <p:cNvSpPr/>
          <p:nvPr/>
        </p:nvSpPr>
        <p:spPr>
          <a:xfrm>
            <a:off x="4526280" y="4581144"/>
            <a:ext cx="10607040" cy="566928"/>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Standard servers; GPU optional</a:t>
            </a:r>
          </a:p>
        </p:txBody>
      </p:sp>
      <p:sp>
        <p:nvSpPr>
          <p:cNvPr id="30" name="TextBox 29"/>
          <p:cNvSpPr txBox="1"/>
          <p:nvPr/>
        </p:nvSpPr>
        <p:spPr>
          <a:xfrm>
            <a:off x="1417320" y="5440680"/>
            <a:ext cx="7315200" cy="365760"/>
          </a:xfrm>
          <a:prstGeom prst="rect">
            <a:avLst/>
          </a:prstGeom>
          <a:noFill/>
        </p:spPr>
        <p:txBody>
          <a:bodyPr wrap="square">
            <a:spAutoFit/>
          </a:bodyPr>
          <a:lstStyle/>
          <a:p>
            <a:pPr algn="l">
              <a:defRPr sz="2100" b="1">
                <a:solidFill>
                  <a:srgbClr val="142D3E"/>
                </a:solidFill>
                <a:latin typeface="Aptos"/>
              </a:defRPr>
            </a:pPr>
            <a:r>
              <a:t>CHALLENGES &amp; MITIGATION</a:t>
            </a:r>
          </a:p>
        </p:txBody>
      </p:sp>
      <p:graphicFrame>
        <p:nvGraphicFramePr>
          <p:cNvPr id="31" name="Table 30"/>
          <p:cNvGraphicFramePr>
            <a:graphicFrameLocks noGrp="1"/>
          </p:cNvGraphicFramePr>
          <p:nvPr>
            <p:extLst>
              <p:ext uri="{D42A27DB-BD31-4B8C-83A1-F6EECF244321}">
                <p14:modId xmlns:p14="http://schemas.microsoft.com/office/powerpoint/2010/main" val="3164727028"/>
              </p:ext>
            </p:extLst>
          </p:nvPr>
        </p:nvGraphicFramePr>
        <p:xfrm>
          <a:off x="1417320" y="5897880"/>
          <a:ext cx="14813280" cy="29718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9326880">
                  <a:extLst>
                    <a:ext uri="{9D8B030D-6E8A-4147-A177-3AD203B41FA5}">
                      <a16:colId xmlns:a16="http://schemas.microsoft.com/office/drawing/2014/main" val="20001"/>
                    </a:ext>
                  </a:extLst>
                </a:gridCol>
              </a:tblGrid>
              <a:tr h="495300">
                <a:tc>
                  <a:txBody>
                    <a:bodyPr/>
                    <a:lstStyle/>
                    <a:p>
                      <a:pPr>
                        <a:defRPr sz="1300" b="1">
                          <a:solidFill>
                            <a:srgbClr val="FFFFFF"/>
                          </a:solidFill>
                          <a:latin typeface="Aptos"/>
                        </a:defRPr>
                      </a:pPr>
                      <a:r>
                        <a:rPr sz="2400" dirty="0"/>
                        <a:t>Challenge / Risk</a:t>
                      </a:r>
                    </a:p>
                  </a:txBody>
                  <a:tcPr marL="73152" marR="73152">
                    <a:solidFill>
                      <a:srgbClr val="247E8B"/>
                    </a:solidFill>
                  </a:tcPr>
                </a:tc>
                <a:tc>
                  <a:txBody>
                    <a:bodyPr/>
                    <a:lstStyle/>
                    <a:p>
                      <a:pPr>
                        <a:defRPr sz="1300" b="1">
                          <a:solidFill>
                            <a:srgbClr val="FFFFFF"/>
                          </a:solidFill>
                          <a:latin typeface="Aptos"/>
                        </a:defRPr>
                      </a:pPr>
                      <a:r>
                        <a:rPr sz="2400" dirty="0"/>
                        <a:t>Mitigation Strategy</a:t>
                      </a:r>
                    </a:p>
                  </a:txBody>
                  <a:tcPr marL="73152" marR="73152">
                    <a:solidFill>
                      <a:srgbClr val="247E8B"/>
                    </a:solidFill>
                  </a:tcPr>
                </a:tc>
                <a:extLst>
                  <a:ext uri="{0D108BD9-81ED-4DB2-BD59-A6C34878D82A}">
                    <a16:rowId xmlns:a16="http://schemas.microsoft.com/office/drawing/2014/main" val="10000"/>
                  </a:ext>
                </a:extLst>
              </a:tr>
              <a:tr h="495300">
                <a:tc>
                  <a:txBody>
                    <a:bodyPr/>
                    <a:lstStyle/>
                    <a:p>
                      <a:pPr>
                        <a:defRPr sz="1200" b="0">
                          <a:solidFill>
                            <a:srgbClr val="142D3E"/>
                          </a:solidFill>
                          <a:latin typeface="Aptos"/>
                        </a:defRPr>
                      </a:pPr>
                      <a:r>
                        <a:rPr sz="2000"/>
                        <a:t>Unstable dark-web sources</a:t>
                      </a:r>
                    </a:p>
                  </a:txBody>
                  <a:tcPr marL="73152" marR="73152">
                    <a:solidFill>
                      <a:srgbClr val="EBF6F7"/>
                    </a:solidFill>
                  </a:tcPr>
                </a:tc>
                <a:tc>
                  <a:txBody>
                    <a:bodyPr/>
                    <a:lstStyle/>
                    <a:p>
                      <a:pPr>
                        <a:defRPr sz="1200" b="0">
                          <a:solidFill>
                            <a:srgbClr val="142D3E"/>
                          </a:solidFill>
                          <a:latin typeface="Aptos"/>
                        </a:defRPr>
                      </a:pPr>
                      <a:r>
                        <a:rPr sz="2000"/>
                        <a:t>Monitoring • retries • source archiving</a:t>
                      </a:r>
                    </a:p>
                  </a:txBody>
                  <a:tcPr marL="73152" marR="73152">
                    <a:solidFill>
                      <a:srgbClr val="EBF6F7"/>
                    </a:solidFill>
                  </a:tcPr>
                </a:tc>
                <a:extLst>
                  <a:ext uri="{0D108BD9-81ED-4DB2-BD59-A6C34878D82A}">
                    <a16:rowId xmlns:a16="http://schemas.microsoft.com/office/drawing/2014/main" val="10001"/>
                  </a:ext>
                </a:extLst>
              </a:tr>
              <a:tr h="495300">
                <a:tc>
                  <a:txBody>
                    <a:bodyPr/>
                    <a:lstStyle/>
                    <a:p>
                      <a:pPr>
                        <a:defRPr sz="1200" b="0">
                          <a:solidFill>
                            <a:srgbClr val="142D3E"/>
                          </a:solidFill>
                          <a:latin typeface="Aptos"/>
                        </a:defRPr>
                      </a:pPr>
                      <a:r>
                        <a:rPr sz="2000"/>
                        <a:t>False links / deceptive identities</a:t>
                      </a:r>
                    </a:p>
                  </a:txBody>
                  <a:tcPr marL="73152" marR="73152">
                    <a:solidFill>
                      <a:srgbClr val="FFFFFF"/>
                    </a:solidFill>
                  </a:tcPr>
                </a:tc>
                <a:tc>
                  <a:txBody>
                    <a:bodyPr/>
                    <a:lstStyle/>
                    <a:p>
                      <a:pPr>
                        <a:defRPr sz="1200" b="0">
                          <a:solidFill>
                            <a:srgbClr val="142D3E"/>
                          </a:solidFill>
                          <a:latin typeface="Aptos"/>
                        </a:defRPr>
                      </a:pPr>
                      <a:r>
                        <a:rPr sz="2000"/>
                        <a:t>Multi-source verification • confidence • human validation</a:t>
                      </a:r>
                    </a:p>
                  </a:txBody>
                  <a:tcPr marL="73152" marR="73152">
                    <a:solidFill>
                      <a:srgbClr val="FFFFFF"/>
                    </a:solidFill>
                  </a:tcPr>
                </a:tc>
                <a:extLst>
                  <a:ext uri="{0D108BD9-81ED-4DB2-BD59-A6C34878D82A}">
                    <a16:rowId xmlns:a16="http://schemas.microsoft.com/office/drawing/2014/main" val="10002"/>
                  </a:ext>
                </a:extLst>
              </a:tr>
              <a:tr h="495300">
                <a:tc>
                  <a:txBody>
                    <a:bodyPr/>
                    <a:lstStyle/>
                    <a:p>
                      <a:pPr>
                        <a:defRPr sz="1200" b="0">
                          <a:solidFill>
                            <a:srgbClr val="142D3E"/>
                          </a:solidFill>
                          <a:latin typeface="Aptos"/>
                        </a:defRPr>
                      </a:pPr>
                      <a:r>
                        <a:rPr sz="2000"/>
                        <a:t>AI errors / hallucinations</a:t>
                      </a:r>
                    </a:p>
                  </a:txBody>
                  <a:tcPr marL="73152" marR="73152">
                    <a:solidFill>
                      <a:srgbClr val="EBF6F7"/>
                    </a:solidFill>
                  </a:tcPr>
                </a:tc>
                <a:tc>
                  <a:txBody>
                    <a:bodyPr/>
                    <a:lstStyle/>
                    <a:p>
                      <a:pPr>
                        <a:defRPr sz="1200" b="0">
                          <a:solidFill>
                            <a:srgbClr val="142D3E"/>
                          </a:solidFill>
                          <a:latin typeface="Aptos"/>
                        </a:defRPr>
                      </a:pPr>
                      <a:r>
                        <a:rPr sz="2000"/>
                        <a:t>Evidence grounding • cross-validation • audit trails</a:t>
                      </a:r>
                    </a:p>
                  </a:txBody>
                  <a:tcPr marL="73152" marR="73152">
                    <a:solidFill>
                      <a:srgbClr val="EBF6F7"/>
                    </a:solidFill>
                  </a:tcPr>
                </a:tc>
                <a:extLst>
                  <a:ext uri="{0D108BD9-81ED-4DB2-BD59-A6C34878D82A}">
                    <a16:rowId xmlns:a16="http://schemas.microsoft.com/office/drawing/2014/main" val="10003"/>
                  </a:ext>
                </a:extLst>
              </a:tr>
              <a:tr h="495300">
                <a:tc>
                  <a:txBody>
                    <a:bodyPr/>
                    <a:lstStyle/>
                    <a:p>
                      <a:pPr>
                        <a:defRPr sz="1200" b="0">
                          <a:solidFill>
                            <a:srgbClr val="142D3E"/>
                          </a:solidFill>
                          <a:latin typeface="Aptos"/>
                        </a:defRPr>
                      </a:pPr>
                      <a:r>
                        <a:rPr sz="2000"/>
                        <a:t>Legal / ethical / privacy</a:t>
                      </a:r>
                    </a:p>
                  </a:txBody>
                  <a:tcPr marL="73152" marR="73152">
                    <a:solidFill>
                      <a:srgbClr val="FFFFFF"/>
                    </a:solidFill>
                  </a:tcPr>
                </a:tc>
                <a:tc>
                  <a:txBody>
                    <a:bodyPr/>
                    <a:lstStyle/>
                    <a:p>
                      <a:pPr>
                        <a:defRPr sz="1200" b="0">
                          <a:solidFill>
                            <a:srgbClr val="142D3E"/>
                          </a:solidFill>
                          <a:latin typeface="Aptos"/>
                        </a:defRPr>
                      </a:pPr>
                      <a:r>
                        <a:rPr sz="2000"/>
                        <a:t>Role-based access • lawful-source policies • controlled retention</a:t>
                      </a:r>
                    </a:p>
                  </a:txBody>
                  <a:tcPr marL="73152" marR="73152">
                    <a:solidFill>
                      <a:srgbClr val="FFFFFF"/>
                    </a:solidFill>
                  </a:tcPr>
                </a:tc>
                <a:extLst>
                  <a:ext uri="{0D108BD9-81ED-4DB2-BD59-A6C34878D82A}">
                    <a16:rowId xmlns:a16="http://schemas.microsoft.com/office/drawing/2014/main" val="10004"/>
                  </a:ext>
                </a:extLst>
              </a:tr>
              <a:tr h="495300">
                <a:tc>
                  <a:txBody>
                    <a:bodyPr/>
                    <a:lstStyle/>
                    <a:p>
                      <a:pPr>
                        <a:defRPr sz="1200" b="0">
                          <a:solidFill>
                            <a:srgbClr val="142D3E"/>
                          </a:solidFill>
                          <a:latin typeface="Aptos"/>
                        </a:defRPr>
                      </a:pPr>
                      <a:r>
                        <a:rPr sz="2000" dirty="0"/>
                        <a:t>Sensitive-data security</a:t>
                      </a:r>
                    </a:p>
                  </a:txBody>
                  <a:tcPr marL="73152" marR="73152">
                    <a:solidFill>
                      <a:srgbClr val="EBF6F7"/>
                    </a:solidFill>
                  </a:tcPr>
                </a:tc>
                <a:tc>
                  <a:txBody>
                    <a:bodyPr/>
                    <a:lstStyle/>
                    <a:p>
                      <a:pPr>
                        <a:defRPr sz="1200" b="0">
                          <a:solidFill>
                            <a:srgbClr val="142D3E"/>
                          </a:solidFill>
                          <a:latin typeface="Aptos"/>
                        </a:defRPr>
                      </a:pPr>
                      <a:r>
                        <a:rPr sz="2000" dirty="0"/>
                        <a:t>Encryption • isolated collection • access logs</a:t>
                      </a:r>
                    </a:p>
                  </a:txBody>
                  <a:tcPr marL="73152" marR="73152">
                    <a:solidFill>
                      <a:srgbClr val="EBF6F7"/>
                    </a:solidFill>
                  </a:tcPr>
                </a:tc>
                <a:extLst>
                  <a:ext uri="{0D108BD9-81ED-4DB2-BD59-A6C34878D82A}">
                    <a16:rowId xmlns:a16="http://schemas.microsoft.com/office/drawing/2014/main" val="10005"/>
                  </a:ext>
                </a:extLst>
              </a:tr>
            </a:tbl>
          </a:graphicData>
        </a:graphic>
      </p:graphicFrame>
      <p:sp>
        <p:nvSpPr>
          <p:cNvPr id="32" name="Rounded Rectangle 31"/>
          <p:cNvSpPr/>
          <p:nvPr/>
        </p:nvSpPr>
        <p:spPr>
          <a:xfrm>
            <a:off x="12527280" y="2240280"/>
            <a:ext cx="3200400" cy="123444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D3E"/>
                </a:solidFill>
                <a:latin typeface="Aptos"/>
              </a:defRPr>
            </a:pPr>
            <a:r>
              <a:rPr sz="1600" dirty="0"/>
              <a:t>VIABILITY</a:t>
            </a:r>
            <a:br>
              <a:rPr sz="1600" dirty="0"/>
            </a:br>
            <a:r>
              <a:rPr sz="1600" dirty="0"/>
              <a:t>Focused prototype → secure organization-level threat-intelligence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545454"/>
                  </a:solidFill>
                  <a:latin typeface="Times New Roman Bold"/>
                  <a:ea typeface="Times New Roman Bold"/>
                  <a:cs typeface="Times New Roman Bold"/>
                  <a:sym typeface="Times New Roman Bold"/>
                </a:rPr>
                <a:t>IMPACT AND BENEFITS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5</a:t>
              </a:r>
            </a:p>
          </p:txBody>
        </p:sp>
      </p:grpSp>
      <p:grpSp>
        <p:nvGrpSpPr>
          <p:cNvPr id="10" name="Group 10"/>
          <p:cNvGrpSpPr/>
          <p:nvPr/>
        </p:nvGrpSpPr>
        <p:grpSpPr>
          <a:xfrm>
            <a:off x="6197668"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Bennett University</a:t>
              </a:r>
            </a:p>
          </p:txBody>
        </p:sp>
      </p:grpSp>
      <p:grpSp>
        <p:nvGrpSpPr>
          <p:cNvPr id="13" name="Group 13"/>
          <p:cNvGrpSpPr/>
          <p:nvPr/>
        </p:nvGrpSpPr>
        <p:grpSpPr>
          <a:xfrm>
            <a:off x="475612" y="359321"/>
            <a:ext cx="1915887" cy="1249101"/>
            <a:chOff x="0" y="0"/>
            <a:chExt cx="2554516" cy="1665468"/>
          </a:xfrm>
        </p:grpSpPr>
        <p:sp>
          <p:nvSpPr>
            <p:cNvPr id="14" name="Freeform 14"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Vulkans</a:t>
              </a:r>
            </a:p>
          </p:txBody>
        </p:sp>
      </p:gr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18" name="Freeform 18"/>
          <p:cNvSpPr/>
          <p:nvPr/>
        </p:nvSpPr>
        <p:spPr>
          <a:xfrm>
            <a:off x="15925891" y="2687902"/>
            <a:ext cx="2119012" cy="1674019"/>
          </a:xfrm>
          <a:custGeom>
            <a:avLst/>
            <a:gdLst/>
            <a:ahLst/>
            <a:cxnLst/>
            <a:rect l="l" t="t" r="r" b="b"/>
            <a:pathLst>
              <a:path w="2119012" h="1674019">
                <a:moveTo>
                  <a:pt x="0" y="0"/>
                </a:moveTo>
                <a:lnTo>
                  <a:pt x="2119012" y="0"/>
                </a:lnTo>
                <a:lnTo>
                  <a:pt x="2119012" y="1674019"/>
                </a:lnTo>
                <a:lnTo>
                  <a:pt x="0" y="1674019"/>
                </a:lnTo>
                <a:lnTo>
                  <a:pt x="0" y="0"/>
                </a:lnTo>
                <a:close/>
              </a:path>
            </a:pathLst>
          </a:custGeom>
          <a:blipFill>
            <a:blip r:embed="rId5"/>
            <a:stretch>
              <a:fillRect/>
            </a:stretch>
          </a:blipFill>
        </p:spPr>
      </p:sp>
      <p:sp>
        <p:nvSpPr>
          <p:cNvPr id="20" name="Freeform 20"/>
          <p:cNvSpPr/>
          <p:nvPr/>
        </p:nvSpPr>
        <p:spPr>
          <a:xfrm>
            <a:off x="16229573" y="5409671"/>
            <a:ext cx="1511648" cy="1889560"/>
          </a:xfrm>
          <a:custGeom>
            <a:avLst/>
            <a:gdLst/>
            <a:ahLst/>
            <a:cxnLst/>
            <a:rect l="l" t="t" r="r" b="b"/>
            <a:pathLst>
              <a:path w="1511648" h="1889560">
                <a:moveTo>
                  <a:pt x="0" y="0"/>
                </a:moveTo>
                <a:lnTo>
                  <a:pt x="1511648" y="0"/>
                </a:lnTo>
                <a:lnTo>
                  <a:pt x="1511648" y="1889561"/>
                </a:lnTo>
                <a:lnTo>
                  <a:pt x="0" y="1889561"/>
                </a:lnTo>
                <a:lnTo>
                  <a:pt x="0" y="0"/>
                </a:lnTo>
                <a:close/>
              </a:path>
            </a:pathLst>
          </a:custGeom>
          <a:blipFill>
            <a:blip r:embed="rId6"/>
            <a:stretch>
              <a:fillRect/>
            </a:stretch>
          </a:blipFill>
        </p:spPr>
      </p:sp>
      <p:sp>
        <p:nvSpPr>
          <p:cNvPr id="21" name="TextBox 20"/>
          <p:cNvSpPr txBox="1"/>
          <p:nvPr/>
        </p:nvSpPr>
        <p:spPr>
          <a:xfrm>
            <a:off x="1051560" y="2011680"/>
            <a:ext cx="6400800" cy="365760"/>
          </a:xfrm>
          <a:prstGeom prst="rect">
            <a:avLst/>
          </a:prstGeom>
          <a:noFill/>
        </p:spPr>
        <p:txBody>
          <a:bodyPr wrap="square">
            <a:spAutoFit/>
          </a:bodyPr>
          <a:lstStyle/>
          <a:p>
            <a:pPr algn="l">
              <a:defRPr sz="2100" b="1">
                <a:solidFill>
                  <a:srgbClr val="142D3E"/>
                </a:solidFill>
                <a:latin typeface="Aptos"/>
              </a:defRPr>
            </a:pPr>
            <a:r>
              <a:t>POTENTIAL IMPACT</a:t>
            </a:r>
          </a:p>
        </p:txBody>
      </p:sp>
      <p:sp>
        <p:nvSpPr>
          <p:cNvPr id="22" name="Rounded Rectangle 21"/>
          <p:cNvSpPr/>
          <p:nvPr/>
        </p:nvSpPr>
        <p:spPr>
          <a:xfrm>
            <a:off x="1051560" y="2560320"/>
            <a:ext cx="2286000" cy="777240"/>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D3E"/>
                </a:solidFill>
                <a:latin typeface="Aptos"/>
              </a:defRPr>
            </a:pPr>
            <a:r>
              <a:rPr sz="2000" dirty="0"/>
              <a:t>Faster Tracking</a:t>
            </a:r>
          </a:p>
        </p:txBody>
      </p:sp>
      <p:sp>
        <p:nvSpPr>
          <p:cNvPr id="23" name="Rounded Rectangle 22"/>
          <p:cNvSpPr/>
          <p:nvPr/>
        </p:nvSpPr>
        <p:spPr>
          <a:xfrm>
            <a:off x="3474720" y="2560320"/>
            <a:ext cx="4160520" cy="77724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Identify &amp; track threat actors</a:t>
            </a:r>
          </a:p>
        </p:txBody>
      </p:sp>
      <p:sp>
        <p:nvSpPr>
          <p:cNvPr id="24" name="Rounded Rectangle 23"/>
          <p:cNvSpPr/>
          <p:nvPr/>
        </p:nvSpPr>
        <p:spPr>
          <a:xfrm>
            <a:off x="8092440" y="2560320"/>
            <a:ext cx="2286000" cy="777240"/>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D3E"/>
                </a:solidFill>
                <a:latin typeface="Aptos"/>
              </a:defRPr>
            </a:pPr>
            <a:r>
              <a:rPr sz="2000" dirty="0"/>
              <a:t>Actionable Intel</a:t>
            </a:r>
          </a:p>
        </p:txBody>
      </p:sp>
      <p:sp>
        <p:nvSpPr>
          <p:cNvPr id="25" name="Rounded Rectangle 24"/>
          <p:cNvSpPr/>
          <p:nvPr/>
        </p:nvSpPr>
        <p:spPr>
          <a:xfrm>
            <a:off x="10515600" y="2560320"/>
            <a:ext cx="4160520" cy="77724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Scattered data → evidence-linked intelligence</a:t>
            </a:r>
          </a:p>
        </p:txBody>
      </p:sp>
      <p:sp>
        <p:nvSpPr>
          <p:cNvPr id="26" name="Rounded Rectangle 25"/>
          <p:cNvSpPr/>
          <p:nvPr/>
        </p:nvSpPr>
        <p:spPr>
          <a:xfrm>
            <a:off x="1051560" y="3703320"/>
            <a:ext cx="2286000" cy="777240"/>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D3E"/>
                </a:solidFill>
                <a:latin typeface="Aptos"/>
              </a:defRPr>
            </a:pPr>
            <a:r>
              <a:rPr sz="2000" dirty="0"/>
              <a:t>Better Accuracy</a:t>
            </a:r>
          </a:p>
        </p:txBody>
      </p:sp>
      <p:sp>
        <p:nvSpPr>
          <p:cNvPr id="27" name="Rounded Rectangle 26"/>
          <p:cNvSpPr/>
          <p:nvPr/>
        </p:nvSpPr>
        <p:spPr>
          <a:xfrm>
            <a:off x="3474720" y="3703320"/>
            <a:ext cx="4160520" cy="77724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AI correlation + confidence scoring</a:t>
            </a:r>
          </a:p>
        </p:txBody>
      </p:sp>
      <p:sp>
        <p:nvSpPr>
          <p:cNvPr id="28" name="Rounded Rectangle 27"/>
          <p:cNvSpPr/>
          <p:nvPr/>
        </p:nvSpPr>
        <p:spPr>
          <a:xfrm>
            <a:off x="8092440" y="3703320"/>
            <a:ext cx="2286000" cy="777240"/>
          </a:xfrm>
          <a:prstGeom prst="roundRect">
            <a:avLst/>
          </a:prstGeom>
          <a:solidFill>
            <a:srgbClr val="CBE7E9"/>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D3E"/>
                </a:solidFill>
                <a:latin typeface="Aptos"/>
              </a:defRPr>
            </a:pPr>
            <a:r>
              <a:rPr sz="2000" dirty="0"/>
              <a:t>Early Detection</a:t>
            </a:r>
          </a:p>
        </p:txBody>
      </p:sp>
      <p:sp>
        <p:nvSpPr>
          <p:cNvPr id="29" name="Rounded Rectangle 28"/>
          <p:cNvSpPr/>
          <p:nvPr/>
        </p:nvSpPr>
        <p:spPr>
          <a:xfrm>
            <a:off x="10515600" y="3703320"/>
            <a:ext cx="4160520" cy="777240"/>
          </a:xfrm>
          <a:prstGeom prst="roundRect">
            <a:avLst/>
          </a:prstGeom>
          <a:solidFill>
            <a:srgbClr val="FFFFFF"/>
          </a:solidFill>
          <a:ln w="19050">
            <a:solidFill>
              <a:srgbClr val="247E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142D3E"/>
                </a:solidFill>
                <a:latin typeface="Aptos"/>
              </a:defRPr>
            </a:pPr>
            <a:r>
              <a:rPr sz="2000" dirty="0"/>
              <a:t>Cybercrime • illicit trade • fraud • terror financing</a:t>
            </a:r>
          </a:p>
        </p:txBody>
      </p:sp>
      <p:sp>
        <p:nvSpPr>
          <p:cNvPr id="30" name="TextBox 29"/>
          <p:cNvSpPr txBox="1"/>
          <p:nvPr/>
        </p:nvSpPr>
        <p:spPr>
          <a:xfrm>
            <a:off x="1051560" y="5074920"/>
            <a:ext cx="6400800" cy="365760"/>
          </a:xfrm>
          <a:prstGeom prst="rect">
            <a:avLst/>
          </a:prstGeom>
          <a:noFill/>
        </p:spPr>
        <p:txBody>
          <a:bodyPr wrap="square">
            <a:spAutoFit/>
          </a:bodyPr>
          <a:lstStyle/>
          <a:p>
            <a:pPr algn="l">
              <a:defRPr sz="2100" b="1">
                <a:solidFill>
                  <a:srgbClr val="142D3E"/>
                </a:solidFill>
                <a:latin typeface="Aptos"/>
              </a:defRPr>
            </a:pPr>
            <a:r>
              <a:t>KEY BENEFITS</a:t>
            </a:r>
          </a:p>
        </p:txBody>
      </p:sp>
      <p:graphicFrame>
        <p:nvGraphicFramePr>
          <p:cNvPr id="31" name="Table 30"/>
          <p:cNvGraphicFramePr>
            <a:graphicFrameLocks noGrp="1"/>
          </p:cNvGraphicFramePr>
          <p:nvPr>
            <p:extLst>
              <p:ext uri="{D42A27DB-BD31-4B8C-83A1-F6EECF244321}">
                <p14:modId xmlns:p14="http://schemas.microsoft.com/office/powerpoint/2010/main" val="3854462124"/>
              </p:ext>
            </p:extLst>
          </p:nvPr>
        </p:nvGraphicFramePr>
        <p:xfrm>
          <a:off x="1051560" y="5532120"/>
          <a:ext cx="14081760" cy="32461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0424160">
                  <a:extLst>
                    <a:ext uri="{9D8B030D-6E8A-4147-A177-3AD203B41FA5}">
                      <a16:colId xmlns:a16="http://schemas.microsoft.com/office/drawing/2014/main" val="20001"/>
                    </a:ext>
                  </a:extLst>
                </a:gridCol>
              </a:tblGrid>
              <a:tr h="541020">
                <a:tc>
                  <a:txBody>
                    <a:bodyPr/>
                    <a:lstStyle/>
                    <a:p>
                      <a:pPr>
                        <a:defRPr sz="1400" b="1">
                          <a:solidFill>
                            <a:srgbClr val="FFFFFF"/>
                          </a:solidFill>
                          <a:latin typeface="Aptos"/>
                        </a:defRPr>
                      </a:pPr>
                      <a:r>
                        <a:rPr sz="2400" dirty="0"/>
                        <a:t>Area</a:t>
                      </a:r>
                    </a:p>
                  </a:txBody>
                  <a:tcPr marL="73152" marR="73152">
                    <a:solidFill>
                      <a:srgbClr val="247E8B"/>
                    </a:solidFill>
                  </a:tcPr>
                </a:tc>
                <a:tc>
                  <a:txBody>
                    <a:bodyPr/>
                    <a:lstStyle/>
                    <a:p>
                      <a:pPr>
                        <a:defRPr sz="1400" b="1">
                          <a:solidFill>
                            <a:srgbClr val="FFFFFF"/>
                          </a:solidFill>
                          <a:latin typeface="Aptos"/>
                        </a:defRPr>
                      </a:pPr>
                      <a:r>
                        <a:rPr sz="2400" dirty="0"/>
                        <a:t>Benefit</a:t>
                      </a:r>
                    </a:p>
                  </a:txBody>
                  <a:tcPr marL="73152" marR="73152">
                    <a:solidFill>
                      <a:srgbClr val="247E8B"/>
                    </a:solidFill>
                  </a:tcPr>
                </a:tc>
                <a:extLst>
                  <a:ext uri="{0D108BD9-81ED-4DB2-BD59-A6C34878D82A}">
                    <a16:rowId xmlns:a16="http://schemas.microsoft.com/office/drawing/2014/main" val="10000"/>
                  </a:ext>
                </a:extLst>
              </a:tr>
              <a:tr h="541020">
                <a:tc>
                  <a:txBody>
                    <a:bodyPr/>
                    <a:lstStyle/>
                    <a:p>
                      <a:pPr>
                        <a:defRPr sz="1300" b="0">
                          <a:solidFill>
                            <a:srgbClr val="142D3E"/>
                          </a:solidFill>
                          <a:latin typeface="Aptos"/>
                        </a:defRPr>
                      </a:pPr>
                      <a:r>
                        <a:rPr sz="2000"/>
                        <a:t>Social</a:t>
                      </a:r>
                    </a:p>
                  </a:txBody>
                  <a:tcPr marL="73152" marR="73152">
                    <a:solidFill>
                      <a:srgbClr val="EBF6F7"/>
                    </a:solidFill>
                  </a:tcPr>
                </a:tc>
                <a:tc>
                  <a:txBody>
                    <a:bodyPr/>
                    <a:lstStyle/>
                    <a:p>
                      <a:pPr>
                        <a:defRPr sz="1300" b="0">
                          <a:solidFill>
                            <a:srgbClr val="142D3E"/>
                          </a:solidFill>
                          <a:latin typeface="Aptos"/>
                        </a:defRPr>
                      </a:pPr>
                      <a:r>
                        <a:rPr sz="2000"/>
                        <a:t>Protects citizens &amp; organizations</a:t>
                      </a:r>
                    </a:p>
                  </a:txBody>
                  <a:tcPr marL="73152" marR="73152">
                    <a:solidFill>
                      <a:srgbClr val="EBF6F7"/>
                    </a:solidFill>
                  </a:tcPr>
                </a:tc>
                <a:extLst>
                  <a:ext uri="{0D108BD9-81ED-4DB2-BD59-A6C34878D82A}">
                    <a16:rowId xmlns:a16="http://schemas.microsoft.com/office/drawing/2014/main" val="10001"/>
                  </a:ext>
                </a:extLst>
              </a:tr>
              <a:tr h="541020">
                <a:tc>
                  <a:txBody>
                    <a:bodyPr/>
                    <a:lstStyle/>
                    <a:p>
                      <a:pPr>
                        <a:defRPr sz="1300" b="0">
                          <a:solidFill>
                            <a:srgbClr val="142D3E"/>
                          </a:solidFill>
                          <a:latin typeface="Aptos"/>
                        </a:defRPr>
                      </a:pPr>
                      <a:r>
                        <a:rPr sz="2000"/>
                        <a:t>Economic</a:t>
                      </a:r>
                    </a:p>
                  </a:txBody>
                  <a:tcPr marL="73152" marR="73152">
                    <a:solidFill>
                      <a:srgbClr val="FFFFFF"/>
                    </a:solidFill>
                  </a:tcPr>
                </a:tc>
                <a:tc>
                  <a:txBody>
                    <a:bodyPr/>
                    <a:lstStyle/>
                    <a:p>
                      <a:pPr>
                        <a:defRPr sz="1300" b="0">
                          <a:solidFill>
                            <a:srgbClr val="142D3E"/>
                          </a:solidFill>
                          <a:latin typeface="Aptos"/>
                        </a:defRPr>
                      </a:pPr>
                      <a:r>
                        <a:rPr sz="2000"/>
                        <a:t>Reduces losses &amp; investigation costs</a:t>
                      </a:r>
                    </a:p>
                  </a:txBody>
                  <a:tcPr marL="73152" marR="73152">
                    <a:solidFill>
                      <a:srgbClr val="FFFFFF"/>
                    </a:solidFill>
                  </a:tcPr>
                </a:tc>
                <a:extLst>
                  <a:ext uri="{0D108BD9-81ED-4DB2-BD59-A6C34878D82A}">
                    <a16:rowId xmlns:a16="http://schemas.microsoft.com/office/drawing/2014/main" val="10002"/>
                  </a:ext>
                </a:extLst>
              </a:tr>
              <a:tr h="541020">
                <a:tc>
                  <a:txBody>
                    <a:bodyPr/>
                    <a:lstStyle/>
                    <a:p>
                      <a:pPr>
                        <a:defRPr sz="1300" b="0">
                          <a:solidFill>
                            <a:srgbClr val="142D3E"/>
                          </a:solidFill>
                          <a:latin typeface="Aptos"/>
                        </a:defRPr>
                      </a:pPr>
                      <a:r>
                        <a:rPr sz="2000"/>
                        <a:t>Operational</a:t>
                      </a:r>
                    </a:p>
                  </a:txBody>
                  <a:tcPr marL="73152" marR="73152">
                    <a:solidFill>
                      <a:srgbClr val="EBF6F7"/>
                    </a:solidFill>
                  </a:tcPr>
                </a:tc>
                <a:tc>
                  <a:txBody>
                    <a:bodyPr/>
                    <a:lstStyle/>
                    <a:p>
                      <a:pPr>
                        <a:defRPr sz="1300" b="0">
                          <a:solidFill>
                            <a:srgbClr val="142D3E"/>
                          </a:solidFill>
                          <a:latin typeface="Aptos"/>
                        </a:defRPr>
                      </a:pPr>
                      <a:r>
                        <a:rPr sz="2000"/>
                        <a:t>Saves analyst time; faster decisions</a:t>
                      </a:r>
                    </a:p>
                  </a:txBody>
                  <a:tcPr marL="73152" marR="73152">
                    <a:solidFill>
                      <a:srgbClr val="EBF6F7"/>
                    </a:solidFill>
                  </a:tcPr>
                </a:tc>
                <a:extLst>
                  <a:ext uri="{0D108BD9-81ED-4DB2-BD59-A6C34878D82A}">
                    <a16:rowId xmlns:a16="http://schemas.microsoft.com/office/drawing/2014/main" val="10003"/>
                  </a:ext>
                </a:extLst>
              </a:tr>
              <a:tr h="541020">
                <a:tc>
                  <a:txBody>
                    <a:bodyPr/>
                    <a:lstStyle/>
                    <a:p>
                      <a:pPr>
                        <a:defRPr sz="1300" b="0">
                          <a:solidFill>
                            <a:srgbClr val="142D3E"/>
                          </a:solidFill>
                          <a:latin typeface="Aptos"/>
                        </a:defRPr>
                      </a:pPr>
                      <a:r>
                        <a:rPr sz="2000"/>
                        <a:t>National Security</a:t>
                      </a:r>
                    </a:p>
                  </a:txBody>
                  <a:tcPr marL="73152" marR="73152">
                    <a:solidFill>
                      <a:srgbClr val="FFFFFF"/>
                    </a:solidFill>
                  </a:tcPr>
                </a:tc>
                <a:tc>
                  <a:txBody>
                    <a:bodyPr/>
                    <a:lstStyle/>
                    <a:p>
                      <a:pPr>
                        <a:defRPr sz="1300" b="0">
                          <a:solidFill>
                            <a:srgbClr val="142D3E"/>
                          </a:solidFill>
                          <a:latin typeface="Aptos"/>
                        </a:defRPr>
                      </a:pPr>
                      <a:r>
                        <a:rPr sz="2000"/>
                        <a:t>Stronger monitoring &amp; intelligence sharing</a:t>
                      </a:r>
                    </a:p>
                  </a:txBody>
                  <a:tcPr marL="73152" marR="73152">
                    <a:solidFill>
                      <a:srgbClr val="FFFFFF"/>
                    </a:solidFill>
                  </a:tcPr>
                </a:tc>
                <a:extLst>
                  <a:ext uri="{0D108BD9-81ED-4DB2-BD59-A6C34878D82A}">
                    <a16:rowId xmlns:a16="http://schemas.microsoft.com/office/drawing/2014/main" val="10004"/>
                  </a:ext>
                </a:extLst>
              </a:tr>
              <a:tr h="541020">
                <a:tc>
                  <a:txBody>
                    <a:bodyPr/>
                    <a:lstStyle/>
                    <a:p>
                      <a:pPr>
                        <a:defRPr sz="1300" b="0">
                          <a:solidFill>
                            <a:srgbClr val="142D3E"/>
                          </a:solidFill>
                          <a:latin typeface="Aptos"/>
                        </a:defRPr>
                      </a:pPr>
                      <a:r>
                        <a:rPr sz="2000" dirty="0"/>
                        <a:t>Environmental</a:t>
                      </a:r>
                    </a:p>
                  </a:txBody>
                  <a:tcPr marL="73152" marR="73152">
                    <a:solidFill>
                      <a:srgbClr val="EBF6F7"/>
                    </a:solidFill>
                  </a:tcPr>
                </a:tc>
                <a:tc>
                  <a:txBody>
                    <a:bodyPr/>
                    <a:lstStyle/>
                    <a:p>
                      <a:pPr>
                        <a:defRPr sz="1300" b="0">
                          <a:solidFill>
                            <a:srgbClr val="142D3E"/>
                          </a:solidFill>
                          <a:latin typeface="Aptos"/>
                        </a:defRPr>
                      </a:pPr>
                      <a:r>
                        <a:rPr sz="2000" dirty="0"/>
                        <a:t>Efficient scalable processing reduces unnecessary compute/storage</a:t>
                      </a:r>
                    </a:p>
                  </a:txBody>
                  <a:tcPr marL="73152" marR="73152">
                    <a:solidFill>
                      <a:srgbClr val="EBF6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914400" y="-190632"/>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RESEARCH  AND REFERENCES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6</a:t>
              </a:r>
            </a:p>
          </p:txBody>
        </p:sp>
      </p:grpSp>
      <p:grpSp>
        <p:nvGrpSpPr>
          <p:cNvPr id="10" name="Group 10"/>
          <p:cNvGrpSpPr/>
          <p:nvPr/>
        </p:nvGrpSpPr>
        <p:grpSpPr>
          <a:xfrm>
            <a:off x="6093935"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Bennett University</a:t>
              </a:r>
            </a:p>
          </p:txBody>
        </p:sp>
      </p:grpSp>
      <p:grpSp>
        <p:nvGrpSpPr>
          <p:cNvPr id="13" name="Group 13"/>
          <p:cNvGrpSpPr/>
          <p:nvPr/>
        </p:nvGrpSpPr>
        <p:grpSpPr>
          <a:xfrm>
            <a:off x="475612" y="359321"/>
            <a:ext cx="1915887" cy="1249101"/>
            <a:chOff x="0" y="0"/>
            <a:chExt cx="2554516" cy="1665468"/>
          </a:xfrm>
        </p:grpSpPr>
        <p:sp>
          <p:nvSpPr>
            <p:cNvPr id="14" name="Freeform 14"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Vulkans</a:t>
              </a:r>
            </a:p>
          </p:txBody>
        </p:sp>
      </p:gr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sp>
        <p:nvSpPr>
          <p:cNvPr id="18" name="Freeform 18"/>
          <p:cNvSpPr/>
          <p:nvPr/>
        </p:nvSpPr>
        <p:spPr>
          <a:xfrm>
            <a:off x="0" y="7513367"/>
            <a:ext cx="1808936" cy="2021158"/>
          </a:xfrm>
          <a:custGeom>
            <a:avLst/>
            <a:gdLst/>
            <a:ahLst/>
            <a:cxnLst/>
            <a:rect l="l" t="t" r="r" b="b"/>
            <a:pathLst>
              <a:path w="1808936" h="2021158">
                <a:moveTo>
                  <a:pt x="0" y="0"/>
                </a:moveTo>
                <a:lnTo>
                  <a:pt x="1808936" y="0"/>
                </a:lnTo>
                <a:lnTo>
                  <a:pt x="1808936" y="2021158"/>
                </a:lnTo>
                <a:lnTo>
                  <a:pt x="0" y="20211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9" name="TextBox 18"/>
          <p:cNvSpPr txBox="1"/>
          <p:nvPr/>
        </p:nvSpPr>
        <p:spPr>
          <a:xfrm>
            <a:off x="1600200" y="1618900"/>
            <a:ext cx="6400800" cy="365760"/>
          </a:xfrm>
          <a:prstGeom prst="rect">
            <a:avLst/>
          </a:prstGeom>
          <a:noFill/>
        </p:spPr>
        <p:txBody>
          <a:bodyPr wrap="square">
            <a:spAutoFit/>
          </a:bodyPr>
          <a:lstStyle/>
          <a:p>
            <a:pPr algn="l">
              <a:defRPr sz="2200" b="1">
                <a:solidFill>
                  <a:srgbClr val="142D3E"/>
                </a:solidFill>
                <a:latin typeface="Aptos"/>
              </a:defRPr>
            </a:pPr>
            <a:r>
              <a:rPr dirty="0"/>
              <a:t>RESEARCH &amp; REFERENCES</a:t>
            </a:r>
          </a:p>
        </p:txBody>
      </p:sp>
      <p:graphicFrame>
        <p:nvGraphicFramePr>
          <p:cNvPr id="20" name="Table 19"/>
          <p:cNvGraphicFramePr>
            <a:graphicFrameLocks noGrp="1"/>
          </p:cNvGraphicFramePr>
          <p:nvPr>
            <p:extLst>
              <p:ext uri="{D42A27DB-BD31-4B8C-83A1-F6EECF244321}">
                <p14:modId xmlns:p14="http://schemas.microsoft.com/office/powerpoint/2010/main" val="3377695405"/>
              </p:ext>
            </p:extLst>
          </p:nvPr>
        </p:nvGraphicFramePr>
        <p:xfrm>
          <a:off x="1808936" y="1940265"/>
          <a:ext cx="14996160" cy="7387092"/>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9509760">
                  <a:extLst>
                    <a:ext uri="{9D8B030D-6E8A-4147-A177-3AD203B41FA5}">
                      <a16:colId xmlns:a16="http://schemas.microsoft.com/office/drawing/2014/main" val="20001"/>
                    </a:ext>
                  </a:extLst>
                </a:gridCol>
              </a:tblGrid>
              <a:tr h="666252">
                <a:tc>
                  <a:txBody>
                    <a:bodyPr/>
                    <a:lstStyle/>
                    <a:p>
                      <a:pPr>
                        <a:defRPr sz="1500" b="1">
                          <a:solidFill>
                            <a:srgbClr val="FFFFFF"/>
                          </a:solidFill>
                          <a:latin typeface="Aptos"/>
                        </a:defRPr>
                      </a:pPr>
                      <a:r>
                        <a:rPr sz="2400" dirty="0"/>
                        <a:t>Source</a:t>
                      </a:r>
                    </a:p>
                  </a:txBody>
                  <a:tcPr marL="73152" marR="73152">
                    <a:solidFill>
                      <a:srgbClr val="247E8B"/>
                    </a:solidFill>
                  </a:tcPr>
                </a:tc>
                <a:tc>
                  <a:txBody>
                    <a:bodyPr/>
                    <a:lstStyle/>
                    <a:p>
                      <a:pPr>
                        <a:defRPr sz="1500" b="1">
                          <a:solidFill>
                            <a:srgbClr val="FFFFFF"/>
                          </a:solidFill>
                          <a:latin typeface="Aptos"/>
                        </a:defRPr>
                      </a:pPr>
                      <a:r>
                        <a:rPr sz="2400" dirty="0"/>
                        <a:t>Used For</a:t>
                      </a:r>
                    </a:p>
                  </a:txBody>
                  <a:tcPr marL="73152" marR="73152">
                    <a:solidFill>
                      <a:srgbClr val="247E8B"/>
                    </a:solidFill>
                  </a:tcPr>
                </a:tc>
                <a:extLst>
                  <a:ext uri="{0D108BD9-81ED-4DB2-BD59-A6C34878D82A}">
                    <a16:rowId xmlns:a16="http://schemas.microsoft.com/office/drawing/2014/main" val="10000"/>
                  </a:ext>
                </a:extLst>
              </a:tr>
              <a:tr h="962021">
                <a:tc>
                  <a:txBody>
                    <a:bodyPr/>
                    <a:lstStyle/>
                    <a:p>
                      <a:pPr>
                        <a:defRPr sz="1400" b="0">
                          <a:solidFill>
                            <a:srgbClr val="142D3E"/>
                          </a:solidFill>
                          <a:latin typeface="Aptos"/>
                        </a:defRPr>
                      </a:pPr>
                      <a:r>
                        <a:rPr sz="2000"/>
                        <a:t>Europol IOCTA</a:t>
                      </a:r>
                    </a:p>
                  </a:txBody>
                  <a:tcPr marL="73152" marR="73152">
                    <a:solidFill>
                      <a:srgbClr val="EBF6F7"/>
                    </a:solidFill>
                  </a:tcPr>
                </a:tc>
                <a:tc>
                  <a:txBody>
                    <a:bodyPr/>
                    <a:lstStyle/>
                    <a:p>
                      <a:pPr>
                        <a:defRPr sz="1100" b="0">
                          <a:solidFill>
                            <a:srgbClr val="142D3E"/>
                          </a:solidFill>
                          <a:latin typeface="Aptos"/>
                        </a:defRPr>
                      </a:pPr>
                      <a:r>
                        <a:rPr sz="2000"/>
                        <a:t>Europol’s law-enforcement threat assessment of current and emerging cybercrime trends, including dark-web and cybercrime enablers.</a:t>
                      </a:r>
                    </a:p>
                    <a:p>
                      <a:pPr>
                        <a:spcBef>
                          <a:spcPts val="100"/>
                        </a:spcBef>
                      </a:pPr>
                      <a:r>
                        <a:rPr sz="2000" u="sng">
                          <a:hlinkClick r:id="rId6"/>
                        </a:rPr>
                        <a:t>Link: https://www.europol.europa.eu/publications-events/main-reports/iocta-report</a:t>
                      </a:r>
                    </a:p>
                  </a:txBody>
                  <a:tcPr marL="73152" marR="73152">
                    <a:solidFill>
                      <a:srgbClr val="EBF6F7"/>
                    </a:solidFill>
                  </a:tcPr>
                </a:tc>
                <a:extLst>
                  <a:ext uri="{0D108BD9-81ED-4DB2-BD59-A6C34878D82A}">
                    <a16:rowId xmlns:a16="http://schemas.microsoft.com/office/drawing/2014/main" val="10001"/>
                  </a:ext>
                </a:extLst>
              </a:tr>
              <a:tr h="962021">
                <a:tc>
                  <a:txBody>
                    <a:bodyPr/>
                    <a:lstStyle/>
                    <a:p>
                      <a:pPr>
                        <a:defRPr sz="1400" b="0">
                          <a:solidFill>
                            <a:srgbClr val="142D3E"/>
                          </a:solidFill>
                          <a:latin typeface="Aptos"/>
                        </a:defRPr>
                      </a:pPr>
                      <a:r>
                        <a:rPr sz="2000"/>
                        <a:t>Tor Project Specifications</a:t>
                      </a:r>
                    </a:p>
                  </a:txBody>
                  <a:tcPr marL="73152" marR="73152">
                    <a:solidFill>
                      <a:srgbClr val="FFFFFF"/>
                    </a:solidFill>
                  </a:tcPr>
                </a:tc>
                <a:tc>
                  <a:txBody>
                    <a:bodyPr/>
                    <a:lstStyle/>
                    <a:p>
                      <a:pPr>
                        <a:defRPr sz="1100" b="0">
                          <a:solidFill>
                            <a:srgbClr val="142D3E"/>
                          </a:solidFill>
                          <a:latin typeface="Aptos"/>
                        </a:defRPr>
                      </a:pPr>
                      <a:r>
                        <a:rPr sz="2000"/>
                        <a:t>Official technical reference for understanding Tor and onion-service architecture, privacy features and protocols.</a:t>
                      </a:r>
                    </a:p>
                    <a:p>
                      <a:pPr>
                        <a:spcBef>
                          <a:spcPts val="100"/>
                        </a:spcBef>
                      </a:pPr>
                      <a:r>
                        <a:rPr sz="2000" u="sng">
                          <a:hlinkClick r:id="rId7"/>
                        </a:rPr>
                        <a:t>Link: https://community.torproject.org/onion-services/overview/</a:t>
                      </a:r>
                    </a:p>
                  </a:txBody>
                  <a:tcPr marL="73152" marR="73152">
                    <a:solidFill>
                      <a:srgbClr val="FFFFFF"/>
                    </a:solidFill>
                  </a:tcPr>
                </a:tc>
                <a:extLst>
                  <a:ext uri="{0D108BD9-81ED-4DB2-BD59-A6C34878D82A}">
                    <a16:rowId xmlns:a16="http://schemas.microsoft.com/office/drawing/2014/main" val="10002"/>
                  </a:ext>
                </a:extLst>
              </a:tr>
              <a:tr h="1537795">
                <a:tc>
                  <a:txBody>
                    <a:bodyPr/>
                    <a:lstStyle/>
                    <a:p>
                      <a:pPr>
                        <a:defRPr sz="1400" b="0">
                          <a:solidFill>
                            <a:srgbClr val="142D3E"/>
                          </a:solidFill>
                          <a:latin typeface="Aptos"/>
                        </a:defRPr>
                      </a:pPr>
                      <a:r>
                        <a:rPr sz="2000"/>
                        <a:t>VeriDark — NeurIPS 2022</a:t>
                      </a:r>
                    </a:p>
                  </a:txBody>
                  <a:tcPr marL="73152" marR="73152">
                    <a:solidFill>
                      <a:srgbClr val="EBF6F7"/>
                    </a:solidFill>
                  </a:tcPr>
                </a:tc>
                <a:tc>
                  <a:txBody>
                    <a:bodyPr/>
                    <a:lstStyle/>
                    <a:p>
                      <a:pPr>
                        <a:defRPr sz="1100" b="0">
                          <a:solidFill>
                            <a:srgbClr val="142D3E"/>
                          </a:solidFill>
                          <a:latin typeface="Aptos"/>
                        </a:defRPr>
                      </a:pPr>
                      <a:r>
                        <a:rPr sz="2000"/>
                        <a:t>Research benchmark for verifying and identifying authors from dark-web text, useful for cross-platform persona matching.</a:t>
                      </a:r>
                    </a:p>
                    <a:p>
                      <a:pPr>
                        <a:spcBef>
                          <a:spcPts val="100"/>
                        </a:spcBef>
                      </a:pPr>
                      <a:r>
                        <a:rPr sz="2000" u="sng">
                          <a:hlinkClick r:id="rId8"/>
                        </a:rPr>
                        <a:t>Link: https://proceedings.neurips.cc/paper_files/paper/2022/hash/64008fa30cba9b4d1ab1bd3bd3d57d61-Abstract-Datasets_and_Benchmarks.html</a:t>
                      </a:r>
                    </a:p>
                  </a:txBody>
                  <a:tcPr marL="73152" marR="73152">
                    <a:solidFill>
                      <a:srgbClr val="EBF6F7"/>
                    </a:solidFill>
                  </a:tcPr>
                </a:tc>
                <a:extLst>
                  <a:ext uri="{0D108BD9-81ED-4DB2-BD59-A6C34878D82A}">
                    <a16:rowId xmlns:a16="http://schemas.microsoft.com/office/drawing/2014/main" val="10003"/>
                  </a:ext>
                </a:extLst>
              </a:tr>
              <a:tr h="962021">
                <a:tc>
                  <a:txBody>
                    <a:bodyPr/>
                    <a:lstStyle/>
                    <a:p>
                      <a:pPr>
                        <a:defRPr sz="1400" b="0">
                          <a:solidFill>
                            <a:srgbClr val="142D3E"/>
                          </a:solidFill>
                          <a:latin typeface="Aptos"/>
                        </a:defRPr>
                      </a:pPr>
                      <a:r>
                        <a:rPr sz="2000"/>
                        <a:t>DarkBERT — ACL 2023</a:t>
                      </a:r>
                    </a:p>
                  </a:txBody>
                  <a:tcPr marL="73152" marR="73152">
                    <a:solidFill>
                      <a:srgbClr val="FFFFFF"/>
                    </a:solidFill>
                  </a:tcPr>
                </a:tc>
                <a:tc>
                  <a:txBody>
                    <a:bodyPr/>
                    <a:lstStyle/>
                    <a:p>
                      <a:pPr>
                        <a:defRPr sz="1100" b="0">
                          <a:solidFill>
                            <a:srgbClr val="142D3E"/>
                          </a:solidFill>
                          <a:latin typeface="Aptos"/>
                        </a:defRPr>
                      </a:pPr>
                      <a:r>
                        <a:rPr sz="2000"/>
                        <a:t>Dark-web-specific language model research used as a reference for analysing language and textual patterns in dark-web content.</a:t>
                      </a:r>
                    </a:p>
                    <a:p>
                      <a:pPr>
                        <a:spcBef>
                          <a:spcPts val="100"/>
                        </a:spcBef>
                      </a:pPr>
                      <a:r>
                        <a:rPr sz="2000" u="sng">
                          <a:hlinkClick r:id="rId9"/>
                        </a:rPr>
                        <a:t>Link: https://aclanthology.org/2023.acl-long.415/</a:t>
                      </a:r>
                    </a:p>
                  </a:txBody>
                  <a:tcPr marL="73152" marR="73152">
                    <a:solidFill>
                      <a:srgbClr val="FFFFFF"/>
                    </a:solidFill>
                  </a:tcPr>
                </a:tc>
                <a:extLst>
                  <a:ext uri="{0D108BD9-81ED-4DB2-BD59-A6C34878D82A}">
                    <a16:rowId xmlns:a16="http://schemas.microsoft.com/office/drawing/2014/main" val="10004"/>
                  </a:ext>
                </a:extLst>
              </a:tr>
              <a:tr h="962021">
                <a:tc>
                  <a:txBody>
                    <a:bodyPr/>
                    <a:lstStyle/>
                    <a:p>
                      <a:pPr>
                        <a:defRPr sz="1400" b="0">
                          <a:solidFill>
                            <a:srgbClr val="142D3E"/>
                          </a:solidFill>
                          <a:latin typeface="Aptos"/>
                        </a:defRPr>
                      </a:pPr>
                      <a:r>
                        <a:rPr sz="2000"/>
                        <a:t>MITRE ATT&amp;CK</a:t>
                      </a:r>
                    </a:p>
                  </a:txBody>
                  <a:tcPr marL="73152" marR="73152">
                    <a:solidFill>
                      <a:srgbClr val="EBF6F7"/>
                    </a:solidFill>
                  </a:tcPr>
                </a:tc>
                <a:tc>
                  <a:txBody>
                    <a:bodyPr/>
                    <a:lstStyle/>
                    <a:p>
                      <a:pPr>
                        <a:defRPr sz="1100" b="0">
                          <a:solidFill>
                            <a:srgbClr val="142D3E"/>
                          </a:solidFill>
                          <a:latin typeface="Aptos"/>
                        </a:defRPr>
                      </a:pPr>
                      <a:r>
                        <a:rPr sz="2000"/>
                        <a:t>Knowledge base of real-world adversary tactics and techniques, useful for mapping observed threat-actor behaviour.</a:t>
                      </a:r>
                    </a:p>
                    <a:p>
                      <a:pPr>
                        <a:spcBef>
                          <a:spcPts val="100"/>
                        </a:spcBef>
                      </a:pPr>
                      <a:r>
                        <a:rPr sz="2000" u="sng">
                          <a:hlinkClick r:id="rId10"/>
                        </a:rPr>
                        <a:t>Link: https://attack.mitre.org/</a:t>
                      </a:r>
                    </a:p>
                  </a:txBody>
                  <a:tcPr marL="73152" marR="73152">
                    <a:solidFill>
                      <a:srgbClr val="EBF6F7"/>
                    </a:solidFill>
                  </a:tcPr>
                </a:tc>
                <a:extLst>
                  <a:ext uri="{0D108BD9-81ED-4DB2-BD59-A6C34878D82A}">
                    <a16:rowId xmlns:a16="http://schemas.microsoft.com/office/drawing/2014/main" val="10005"/>
                  </a:ext>
                </a:extLst>
              </a:tr>
              <a:tr h="962021">
                <a:tc>
                  <a:txBody>
                    <a:bodyPr/>
                    <a:lstStyle/>
                    <a:p>
                      <a:pPr>
                        <a:defRPr sz="1400" b="0">
                          <a:solidFill>
                            <a:srgbClr val="142D3E"/>
                          </a:solidFill>
                          <a:latin typeface="Aptos"/>
                        </a:defRPr>
                      </a:pPr>
                      <a:r>
                        <a:rPr sz="2000" dirty="0"/>
                        <a:t>Neo4j Graph Technology</a:t>
                      </a:r>
                    </a:p>
                  </a:txBody>
                  <a:tcPr marL="73152" marR="73152">
                    <a:solidFill>
                      <a:srgbClr val="FFFFFF"/>
                    </a:solidFill>
                  </a:tcPr>
                </a:tc>
                <a:tc>
                  <a:txBody>
                    <a:bodyPr/>
                    <a:lstStyle/>
                    <a:p>
                      <a:pPr>
                        <a:defRPr sz="1100" b="0">
                          <a:solidFill>
                            <a:srgbClr val="142D3E"/>
                          </a:solidFill>
                          <a:latin typeface="Aptos"/>
                        </a:defRPr>
                      </a:pPr>
                      <a:r>
                        <a:rPr sz="2000" dirty="0"/>
                        <a:t>Graph-database technology for storing and </a:t>
                      </a:r>
                      <a:r>
                        <a:rPr sz="2000" dirty="0" err="1"/>
                        <a:t>analysing</a:t>
                      </a:r>
                      <a:r>
                        <a:rPr sz="2000" dirty="0"/>
                        <a:t> connected entities and relationships used in DEIMOS knowledge graphs.</a:t>
                      </a:r>
                    </a:p>
                    <a:p>
                      <a:pPr>
                        <a:spcBef>
                          <a:spcPts val="100"/>
                        </a:spcBef>
                      </a:pPr>
                      <a:r>
                        <a:rPr sz="2000" u="sng" dirty="0">
                          <a:hlinkClick r:id="rId11"/>
                        </a:rPr>
                        <a:t>Link: https://neo4j.com/product/neo4j-graph-database/</a:t>
                      </a:r>
                    </a:p>
                  </a:txBody>
                  <a:tcPr marL="73152" marR="73152">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744</Words>
  <Application>Microsoft Office PowerPoint</Application>
  <PresentationFormat>Custom</PresentationFormat>
  <Paragraphs>154</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Arimo</vt:lpstr>
      <vt:lpstr>Times New Roman Bold</vt:lpstr>
      <vt:lpstr>Arimo Bold</vt:lpstr>
      <vt:lpstr>Garamond Bold</vt:lpstr>
      <vt:lpstr>Calibri (MS)</vt:lpstr>
      <vt:lpstr>Arial</vt:lpstr>
      <vt:lpstr>Arial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SIH2026-IDEA-Presentation-Format.pptx</dc:title>
  <dc:creator>Vaibhav Sunola</dc:creator>
  <cp:lastModifiedBy>Vaibhav Sunola</cp:lastModifiedBy>
  <cp:revision>3</cp:revision>
  <dcterms:created xsi:type="dcterms:W3CDTF">2006-08-16T00:00:00Z</dcterms:created>
  <dcterms:modified xsi:type="dcterms:W3CDTF">2026-09-13T05:00:49Z</dcterms:modified>
  <dc:identifier>DAHVDIuEqD4</dc:identifier>
</cp:coreProperties>
</file>