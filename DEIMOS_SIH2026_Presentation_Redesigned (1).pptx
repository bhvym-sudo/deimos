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4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Garamond Bold" charset="1" panose="02020804030307010803"/>
      <p:regular r:id="rId12"/>
    </p:embeddedFont>
    <p:embeddedFont>
      <p:font typeface="Arial Bold" charset="1" panose="020B0704020202020204"/>
      <p:regular r:id="rId13"/>
    </p:embeddedFont>
    <p:embeddedFont>
      <p:font typeface="Times New Roman Bold" charset="1" panose="02020803070505020304"/>
      <p:regular r:id="rId17"/>
    </p:embeddedFont>
    <p:embeddedFont>
      <p:font typeface="Arimo Bold" charset="1" panose="020B0704020202020204"/>
      <p:regular r:id="rId18"/>
    </p:embeddedFont>
    <p:embeddedFont>
      <p:font typeface="Arimo" charset="1" panose="020B0604020202020204"/>
      <p:regular r:id="rId19"/>
    </p:embeddedFont>
    <p:embeddedFont>
      <p:font typeface="Calibri (MS)" charset="1" panose="020F0502020204030204"/>
      <p:regular r:id="rId20"/>
    </p:embeddedFont>
    <p:embeddedFont>
      <p:font typeface="Arial" charset="1" panose="020B060402020202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notesMasters/notesMaster1.xml" Type="http://schemas.openxmlformats.org/officeDocument/2006/relationships/notesMaster"/><Relationship Id="rId15" Target="theme/theme2.xml" Type="http://schemas.openxmlformats.org/officeDocument/2006/relationships/theme"/><Relationship Id="rId16" Target="notesSlides/notesSlide1.xml" Type="http://schemas.openxmlformats.org/officeDocument/2006/relationships/notes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2" Target="../notesSlides/notesSlide2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Relationship Id="rId8" Target="../media/image12.pn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18.png" Type="http://schemas.openxmlformats.org/officeDocument/2006/relationships/image"/><Relationship Id="rId6" Target="../media/image1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aclanthology.org/2023.acl-long.415/" TargetMode="External" Type="http://schemas.openxmlformats.org/officeDocument/2006/relationships/hyperlink"/><Relationship Id="rId11" Target="https://attack.mitre.org" TargetMode="External" Type="http://schemas.openxmlformats.org/officeDocument/2006/relationships/hyperlink"/><Relationship Id="rId12" Target="https://neo4j.com/use-cases/fraud-detection/" TargetMode="External" Type="http://schemas.openxmlformats.org/officeDocument/2006/relationships/hyperlink"/><Relationship Id="rId2" Target="../notesSlides/notesSlide5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20.png" Type="http://schemas.openxmlformats.org/officeDocument/2006/relationships/image"/><Relationship Id="rId6" Target="../media/image21.svg" Type="http://schemas.openxmlformats.org/officeDocument/2006/relationships/image"/><Relationship Id="rId7" Target="https://www.europol.europa.eu/publications-events/main-reports/iocta-report" TargetMode="External" Type="http://schemas.openxmlformats.org/officeDocument/2006/relationships/hyperlink"/><Relationship Id="rId8" Target="https://spec.torproject.org/rend-spec/protocol-overview.html" TargetMode="External" Type="http://schemas.openxmlformats.org/officeDocument/2006/relationships/hyperlink"/><Relationship Id="rId9" Target="https://proceedings.neurips.cc/paper_files/paper/2022/hash/64008fa30cba9b4d1ab1bd3bd3d57d61-Abstract-Datasets_and_Benchmarks.html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485165" y="1277283"/>
            <a:ext cx="6957908" cy="7732452"/>
          </a:xfrm>
          <a:custGeom>
            <a:avLst/>
            <a:gdLst/>
            <a:ahLst/>
            <a:cxnLst/>
            <a:rect r="r" b="b" t="t" l="l"/>
            <a:pathLst>
              <a:path h="7732452" w="6957908">
                <a:moveTo>
                  <a:pt x="0" y="0"/>
                </a:moveTo>
                <a:lnTo>
                  <a:pt x="6957908" y="0"/>
                </a:lnTo>
                <a:lnTo>
                  <a:pt x="6957908" y="7732453"/>
                </a:lnTo>
                <a:lnTo>
                  <a:pt x="0" y="77324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2333" y="2573817"/>
            <a:ext cx="4805267" cy="5139357"/>
            <a:chOff x="0" y="0"/>
            <a:chExt cx="6407023" cy="68524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07023" cy="6852412"/>
            </a:xfrm>
            <a:custGeom>
              <a:avLst/>
              <a:gdLst/>
              <a:ahLst/>
              <a:cxnLst/>
              <a:rect r="r" b="b" t="t" l="l"/>
              <a:pathLst>
                <a:path h="6852412" w="6407023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49475" b="-1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496929" y="-790137"/>
            <a:ext cx="15544800" cy="3114675"/>
            <a:chOff x="0" y="0"/>
            <a:chExt cx="20726400" cy="41529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726400" cy="4152900"/>
            </a:xfrm>
            <a:custGeom>
              <a:avLst/>
              <a:gdLst/>
              <a:ahLst/>
              <a:cxnLst/>
              <a:rect r="r" b="b" t="t" l="l"/>
              <a:pathLst>
                <a:path h="41529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7246" r="0" b="-4724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1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2489529" y="8145032"/>
            <a:ext cx="3458816" cy="1729408"/>
          </a:xfrm>
          <a:custGeom>
            <a:avLst/>
            <a:gdLst/>
            <a:ahLst/>
            <a:cxnLst/>
            <a:rect r="r" b="b" t="t" l="l"/>
            <a:pathLst>
              <a:path h="1729408" w="3458816">
                <a:moveTo>
                  <a:pt x="0" y="0"/>
                </a:moveTo>
                <a:lnTo>
                  <a:pt x="3458816" y="0"/>
                </a:lnTo>
                <a:lnTo>
                  <a:pt x="3458816" y="1729408"/>
                </a:lnTo>
                <a:lnTo>
                  <a:pt x="0" y="172940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96929" y="2950845"/>
            <a:ext cx="8703945" cy="6307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</a:p>
          <a:p>
            <a:pPr algn="l" marL="488637" indent="-244318" lvl="1">
              <a:lnSpc>
                <a:spcPts val="6480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– 26151</a:t>
            </a:r>
          </a:p>
          <a:p>
            <a:pPr algn="l" marL="488637" indent="-244318" lvl="1">
              <a:lnSpc>
                <a:spcPts val="6480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 – Dark-web Threat Actor De-anonymization</a:t>
            </a:r>
          </a:p>
          <a:p>
            <a:pPr algn="l" marL="488637" indent="-244318" lvl="1">
              <a:lnSpc>
                <a:spcPts val="6480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 – Blockchain &amp; Cybersecurity</a:t>
            </a:r>
          </a:p>
          <a:p>
            <a:pPr algn="l" marL="488637" indent="-244318" lvl="1">
              <a:lnSpc>
                <a:spcPts val="6480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Category – Software</a:t>
            </a:r>
          </a:p>
          <a:p>
            <a:pPr algn="l" marL="488637" indent="-244318" lvl="1">
              <a:lnSpc>
                <a:spcPts val="6480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ID – ____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75612" y="-691532"/>
            <a:ext cx="16459200" cy="2299954"/>
            <a:chOff x="0" y="0"/>
            <a:chExt cx="21945600" cy="306660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3066605"/>
            </a:xfrm>
            <a:custGeom>
              <a:avLst/>
              <a:gdLst/>
              <a:ahLst/>
              <a:cxnLst/>
              <a:rect r="r" b="b" t="t" l="l"/>
              <a:pathLst>
                <a:path h="306660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3066605"/>
                  </a:lnTo>
                  <a:lnTo>
                    <a:pt x="0" y="30666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2168" r="0" b="-76713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3095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</a:p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545454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DEIMOS</a:t>
              </a:r>
            </a:p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545454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Dark-web </a:t>
              </a:r>
              <a:r>
                <a:rPr lang="en-US" sz="3000" b="true">
                  <a:solidFill>
                    <a:srgbClr val="545454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Entity Identification, Mapping &amp; OSINT System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101101" y="9532144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Bennett University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75612" y="359321"/>
            <a:ext cx="1915887" cy="1249101"/>
            <a:chOff x="0" y="0"/>
            <a:chExt cx="2554516" cy="1665468"/>
          </a:xfrm>
        </p:grpSpPr>
        <p:sp>
          <p:nvSpPr>
            <p:cNvPr name="Freeform 14" id="14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Vulkans 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16140344" y="1429614"/>
            <a:ext cx="1904559" cy="1809331"/>
          </a:xfrm>
          <a:custGeom>
            <a:avLst/>
            <a:gdLst/>
            <a:ahLst/>
            <a:cxnLst/>
            <a:rect r="r" b="b" t="t" l="l"/>
            <a:pathLst>
              <a:path h="1809331" w="1904559">
                <a:moveTo>
                  <a:pt x="0" y="0"/>
                </a:moveTo>
                <a:lnTo>
                  <a:pt x="1904559" y="0"/>
                </a:lnTo>
                <a:lnTo>
                  <a:pt x="1904559" y="1809330"/>
                </a:lnTo>
                <a:lnTo>
                  <a:pt x="0" y="180933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29444" y="4134221"/>
            <a:ext cx="8002419" cy="4902801"/>
            <a:chOff x="0" y="0"/>
            <a:chExt cx="2107633" cy="129127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07633" cy="1291273"/>
            </a:xfrm>
            <a:custGeom>
              <a:avLst/>
              <a:gdLst/>
              <a:ahLst/>
              <a:cxnLst/>
              <a:rect r="r" b="b" t="t" l="l"/>
              <a:pathLst>
                <a:path h="1291273" w="2107633">
                  <a:moveTo>
                    <a:pt x="43535" y="0"/>
                  </a:moveTo>
                  <a:lnTo>
                    <a:pt x="2064098" y="0"/>
                  </a:lnTo>
                  <a:cubicBezTo>
                    <a:pt x="2075644" y="0"/>
                    <a:pt x="2086717" y="4587"/>
                    <a:pt x="2094882" y="12751"/>
                  </a:cubicBezTo>
                  <a:cubicBezTo>
                    <a:pt x="2103046" y="20916"/>
                    <a:pt x="2107633" y="31989"/>
                    <a:pt x="2107633" y="43535"/>
                  </a:cubicBezTo>
                  <a:lnTo>
                    <a:pt x="2107633" y="1247738"/>
                  </a:lnTo>
                  <a:cubicBezTo>
                    <a:pt x="2107633" y="1259284"/>
                    <a:pt x="2103046" y="1270357"/>
                    <a:pt x="2094882" y="1278522"/>
                  </a:cubicBezTo>
                  <a:cubicBezTo>
                    <a:pt x="2086717" y="1286686"/>
                    <a:pt x="2075644" y="1291273"/>
                    <a:pt x="2064098" y="1291273"/>
                  </a:cubicBezTo>
                  <a:lnTo>
                    <a:pt x="43535" y="1291273"/>
                  </a:lnTo>
                  <a:cubicBezTo>
                    <a:pt x="31989" y="1291273"/>
                    <a:pt x="20916" y="1286686"/>
                    <a:pt x="12751" y="1278522"/>
                  </a:cubicBezTo>
                  <a:cubicBezTo>
                    <a:pt x="4587" y="1270357"/>
                    <a:pt x="0" y="1259284"/>
                    <a:pt x="0" y="1247738"/>
                  </a:cubicBezTo>
                  <a:lnTo>
                    <a:pt x="0" y="43535"/>
                  </a:lnTo>
                  <a:cubicBezTo>
                    <a:pt x="0" y="31989"/>
                    <a:pt x="4587" y="20916"/>
                    <a:pt x="12751" y="12751"/>
                  </a:cubicBezTo>
                  <a:cubicBezTo>
                    <a:pt x="20916" y="4587"/>
                    <a:pt x="31989" y="0"/>
                    <a:pt x="43535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2107633" cy="13103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144000" y="4091879"/>
            <a:ext cx="8900903" cy="4945143"/>
            <a:chOff x="0" y="0"/>
            <a:chExt cx="2344271" cy="130242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344271" cy="1302425"/>
            </a:xfrm>
            <a:custGeom>
              <a:avLst/>
              <a:gdLst/>
              <a:ahLst/>
              <a:cxnLst/>
              <a:rect r="r" b="b" t="t" l="l"/>
              <a:pathLst>
                <a:path h="1302425" w="2344271">
                  <a:moveTo>
                    <a:pt x="31312" y="0"/>
                  </a:moveTo>
                  <a:lnTo>
                    <a:pt x="2312958" y="0"/>
                  </a:lnTo>
                  <a:cubicBezTo>
                    <a:pt x="2321263" y="0"/>
                    <a:pt x="2329227" y="3299"/>
                    <a:pt x="2335100" y="9171"/>
                  </a:cubicBezTo>
                  <a:cubicBezTo>
                    <a:pt x="2340972" y="15043"/>
                    <a:pt x="2344271" y="23008"/>
                    <a:pt x="2344271" y="31312"/>
                  </a:cubicBezTo>
                  <a:lnTo>
                    <a:pt x="2344271" y="1271112"/>
                  </a:lnTo>
                  <a:cubicBezTo>
                    <a:pt x="2344271" y="1288405"/>
                    <a:pt x="2330252" y="1302425"/>
                    <a:pt x="2312958" y="1302425"/>
                  </a:cubicBezTo>
                  <a:lnTo>
                    <a:pt x="31312" y="1302425"/>
                  </a:lnTo>
                  <a:cubicBezTo>
                    <a:pt x="23008" y="1302425"/>
                    <a:pt x="15043" y="1299126"/>
                    <a:pt x="9171" y="1293253"/>
                  </a:cubicBezTo>
                  <a:cubicBezTo>
                    <a:pt x="3299" y="1287381"/>
                    <a:pt x="0" y="1279417"/>
                    <a:pt x="0" y="1271112"/>
                  </a:cubicBezTo>
                  <a:lnTo>
                    <a:pt x="0" y="31312"/>
                  </a:lnTo>
                  <a:cubicBezTo>
                    <a:pt x="0" y="23008"/>
                    <a:pt x="3299" y="15043"/>
                    <a:pt x="9171" y="9171"/>
                  </a:cubicBezTo>
                  <a:cubicBezTo>
                    <a:pt x="15043" y="3299"/>
                    <a:pt x="23008" y="0"/>
                    <a:pt x="31312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2344271" cy="1321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480685" y="1931530"/>
            <a:ext cx="14449053" cy="2409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1561" indent="-240780" lvl="1">
              <a:lnSpc>
                <a:spcPts val="3193"/>
              </a:lnSpc>
            </a:pPr>
            <a:r>
              <a:rPr lang="en-US" b="true" sz="2660" u="sng">
                <a:solidFill>
                  <a:srgbClr val="0070C0"/>
                </a:solidFill>
                <a:latin typeface="Arial Bold"/>
                <a:ea typeface="Arial Bold"/>
                <a:cs typeface="Arial Bold"/>
                <a:sym typeface="Arial Bold"/>
              </a:rPr>
              <a:t>01 — Problem</a:t>
            </a:r>
          </a:p>
          <a:p>
            <a:pPr algn="l" marL="481561" indent="-160520" lvl="2">
              <a:lnSpc>
                <a:spcPts val="3193"/>
              </a:lnSpc>
              <a:buFont typeface="Arial"/>
              <a:buChar char="⚀"/>
            </a:pPr>
            <a:r>
              <a:rPr lang="en-US" sz="2660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The dark web lets threat actors hide behind Tor services, making attribution difficult.</a:t>
            </a:r>
          </a:p>
          <a:p>
            <a:pPr algn="l" marL="481561" indent="-160520" lvl="2">
              <a:lnSpc>
                <a:spcPts val="3193"/>
              </a:lnSpc>
              <a:buFont typeface="Arial"/>
              <a:buChar char="⚀"/>
            </a:pPr>
            <a:r>
              <a:rPr lang="en-US" sz="2660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Enables drug &amp; arms trafficking, stolen data sales, hacking services, money laundering and terror financing.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28600" y="4226897"/>
            <a:ext cx="7342455" cy="481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3"/>
              </a:lnSpc>
            </a:pPr>
            <a:r>
              <a:rPr lang="en-US" sz="2660" b="true">
                <a:solidFill>
                  <a:srgbClr val="0070C0"/>
                </a:solidFill>
                <a:latin typeface="Arial Bold"/>
                <a:ea typeface="Arial Bold"/>
                <a:cs typeface="Arial Bold"/>
                <a:sym typeface="Arial Bold"/>
              </a:rPr>
              <a:t>02 — Our Solution</a:t>
            </a:r>
          </a:p>
          <a:p>
            <a:pPr algn="l" marL="0" indent="0">
              <a:lnSpc>
                <a:spcPts val="3193"/>
              </a:lnSpc>
            </a:pPr>
            <a:r>
              <a:rPr lang="en-US" sz="2660" i="tru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AI-powered OSINT platform linking anonymous dark-web actors to real-world entities.</a:t>
            </a:r>
          </a:p>
          <a:p>
            <a:pPr algn="l" marL="481561" indent="-160520" lvl="2">
              <a:lnSpc>
                <a:spcPts val="3193"/>
              </a:lnSpc>
              <a:buFont typeface="Arial"/>
              <a:buChar char="⚬"/>
            </a:pPr>
            <a:r>
              <a:rPr lang="en-US" sz="2660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Correlates Tor-service vulnerabilities with clearnet infrastructure</a:t>
            </a:r>
          </a:p>
          <a:p>
            <a:pPr algn="l" marL="481561" indent="-160520" lvl="2">
              <a:lnSpc>
                <a:spcPts val="3193"/>
              </a:lnSpc>
              <a:buFont typeface="Arial"/>
              <a:buChar char="⚬"/>
            </a:pPr>
            <a:r>
              <a:rPr lang="en-US" sz="2660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Links aliases, PGP keys &amp; wallets in a unified graph</a:t>
            </a:r>
          </a:p>
          <a:p>
            <a:pPr algn="l" marL="481561" indent="-160520" lvl="2">
              <a:lnSpc>
                <a:spcPts val="3193"/>
              </a:lnSpc>
              <a:buFont typeface="Arial"/>
              <a:buChar char="⚬"/>
            </a:pPr>
            <a:r>
              <a:rPr lang="en-US" sz="2660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Multi-model AI for behavioural &amp; cross-platform persona matching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372600" y="4226897"/>
            <a:ext cx="8494407" cy="441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3"/>
              </a:lnSpc>
            </a:pPr>
            <a:r>
              <a:rPr lang="en-US" sz="2660" b="true">
                <a:solidFill>
                  <a:srgbClr val="0070C0"/>
                </a:solidFill>
                <a:latin typeface="Arial Bold"/>
                <a:ea typeface="Arial Bold"/>
                <a:cs typeface="Arial Bold"/>
                <a:sym typeface="Arial Bold"/>
              </a:rPr>
              <a:t>03 — What Makes DEIMOS Different</a:t>
            </a:r>
          </a:p>
          <a:p>
            <a:pPr algn="l" marL="481561" indent="-160520" lvl="2">
              <a:lnSpc>
                <a:spcPts val="3193"/>
              </a:lnSpc>
              <a:buFont typeface="Arial"/>
              <a:buChar char="⚬"/>
            </a:pPr>
            <a:r>
              <a:rPr lang="en-US" sz="2660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Clearnet alias discovery via dedicated X search</a:t>
            </a:r>
          </a:p>
          <a:p>
            <a:pPr algn="l" marL="481561" indent="-160520" lvl="2">
              <a:lnSpc>
                <a:spcPts val="3193"/>
              </a:lnSpc>
              <a:buFont typeface="Arial"/>
              <a:buChar char="⚬"/>
            </a:pPr>
            <a:r>
              <a:rPr lang="en-US" sz="2660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Explainable identity graphs with confidence scores</a:t>
            </a:r>
          </a:p>
          <a:p>
            <a:pPr algn="l" marL="481561" indent="-160520" lvl="2">
              <a:lnSpc>
                <a:spcPts val="3193"/>
              </a:lnSpc>
              <a:buFont typeface="Arial"/>
              <a:buChar char="⚬"/>
            </a:pPr>
            <a:r>
              <a:rPr lang="en-US" sz="2660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Adaptive persona tracking across rebrands</a:t>
            </a:r>
          </a:p>
          <a:p>
            <a:pPr algn="l" marL="481561" indent="-160520" lvl="2">
              <a:lnSpc>
                <a:spcPts val="3193"/>
              </a:lnSpc>
              <a:buFont typeface="Arial"/>
              <a:buChar char="⚬"/>
            </a:pPr>
            <a:r>
              <a:rPr lang="en-US" sz="2660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Human-in-the-loop attribution validation</a:t>
            </a:r>
          </a:p>
          <a:p>
            <a:pPr algn="l" marL="481561" indent="-160520" lvl="2">
              <a:lnSpc>
                <a:spcPts val="3193"/>
              </a:lnSpc>
              <a:buFont typeface="Arial"/>
              <a:buChar char="⚬"/>
            </a:pPr>
            <a:r>
              <a:rPr lang="en-US" sz="2660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Integrated dark-web search on critical sites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545454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153163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B</a:t>
              </a: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ennett University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78795" y="175233"/>
            <a:ext cx="1915887" cy="1249101"/>
            <a:chOff x="0" y="0"/>
            <a:chExt cx="2554516" cy="1665468"/>
          </a:xfrm>
        </p:grpSpPr>
        <p:sp>
          <p:nvSpPr>
            <p:cNvPr name="Freeform 14" id="14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Vulkans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15471191" y="1825753"/>
            <a:ext cx="2283935" cy="1141967"/>
          </a:xfrm>
          <a:custGeom>
            <a:avLst/>
            <a:gdLst/>
            <a:ahLst/>
            <a:cxnLst/>
            <a:rect r="r" b="b" t="t" l="l"/>
            <a:pathLst>
              <a:path h="1141967" w="2283935">
                <a:moveTo>
                  <a:pt x="0" y="0"/>
                </a:moveTo>
                <a:lnTo>
                  <a:pt x="2283935" y="0"/>
                </a:lnTo>
                <a:lnTo>
                  <a:pt x="2283935" y="1141967"/>
                </a:lnTo>
                <a:lnTo>
                  <a:pt x="0" y="11419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5529338" y="2854380"/>
            <a:ext cx="2167642" cy="1321548"/>
          </a:xfrm>
          <a:custGeom>
            <a:avLst/>
            <a:gdLst/>
            <a:ahLst/>
            <a:cxnLst/>
            <a:rect r="r" b="b" t="t" l="l"/>
            <a:pathLst>
              <a:path h="1321548" w="2167642">
                <a:moveTo>
                  <a:pt x="0" y="0"/>
                </a:moveTo>
                <a:lnTo>
                  <a:pt x="2167642" y="0"/>
                </a:lnTo>
                <a:lnTo>
                  <a:pt x="2167642" y="1321548"/>
                </a:lnTo>
                <a:lnTo>
                  <a:pt x="0" y="13215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7959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783777" y="2081559"/>
            <a:ext cx="1105922" cy="1105922"/>
          </a:xfrm>
          <a:custGeom>
            <a:avLst/>
            <a:gdLst/>
            <a:ahLst/>
            <a:cxnLst/>
            <a:rect r="r" b="b" t="t" l="l"/>
            <a:pathLst>
              <a:path h="1105922" w="1105922">
                <a:moveTo>
                  <a:pt x="0" y="0"/>
                </a:moveTo>
                <a:lnTo>
                  <a:pt x="1105923" y="0"/>
                </a:lnTo>
                <a:lnTo>
                  <a:pt x="1105923" y="1105922"/>
                </a:lnTo>
                <a:lnTo>
                  <a:pt x="0" y="110592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1768473" y="1595752"/>
            <a:ext cx="1780258" cy="439466"/>
          </a:xfrm>
          <a:custGeom>
            <a:avLst/>
            <a:gdLst/>
            <a:ahLst/>
            <a:cxnLst/>
            <a:rect r="r" b="b" t="t" l="l"/>
            <a:pathLst>
              <a:path h="439466" w="1780258">
                <a:moveTo>
                  <a:pt x="0" y="0"/>
                </a:moveTo>
                <a:lnTo>
                  <a:pt x="1780258" y="0"/>
                </a:lnTo>
                <a:lnTo>
                  <a:pt x="1780258" y="439466"/>
                </a:lnTo>
                <a:lnTo>
                  <a:pt x="0" y="43946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5748950" y="4356903"/>
            <a:ext cx="1728418" cy="1052736"/>
          </a:xfrm>
          <a:custGeom>
            <a:avLst/>
            <a:gdLst/>
            <a:ahLst/>
            <a:cxnLst/>
            <a:rect r="r" b="b" t="t" l="l"/>
            <a:pathLst>
              <a:path h="1052736" w="1728418">
                <a:moveTo>
                  <a:pt x="0" y="0"/>
                </a:moveTo>
                <a:lnTo>
                  <a:pt x="1728418" y="0"/>
                </a:lnTo>
                <a:lnTo>
                  <a:pt x="1728418" y="1052737"/>
                </a:lnTo>
                <a:lnTo>
                  <a:pt x="0" y="105273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653677" y="3625978"/>
            <a:ext cx="1366124" cy="1366124"/>
          </a:xfrm>
          <a:custGeom>
            <a:avLst/>
            <a:gdLst/>
            <a:ahLst/>
            <a:cxnLst/>
            <a:rect r="r" b="b" t="t" l="l"/>
            <a:pathLst>
              <a:path h="1366124" w="1366124">
                <a:moveTo>
                  <a:pt x="0" y="0"/>
                </a:moveTo>
                <a:lnTo>
                  <a:pt x="1366123" y="0"/>
                </a:lnTo>
                <a:lnTo>
                  <a:pt x="1366123" y="1366123"/>
                </a:lnTo>
                <a:lnTo>
                  <a:pt x="0" y="136612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1673039" y="5505795"/>
            <a:ext cx="1243287" cy="1708036"/>
            <a:chOff x="0" y="0"/>
            <a:chExt cx="327450" cy="44985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27450" cy="449853"/>
            </a:xfrm>
            <a:custGeom>
              <a:avLst/>
              <a:gdLst/>
              <a:ahLst/>
              <a:cxnLst/>
              <a:rect r="r" b="b" t="t" l="l"/>
              <a:pathLst>
                <a:path h="449853" w="327450">
                  <a:moveTo>
                    <a:pt x="0" y="0"/>
                  </a:moveTo>
                  <a:lnTo>
                    <a:pt x="327450" y="0"/>
                  </a:lnTo>
                  <a:lnTo>
                    <a:pt x="327450" y="449853"/>
                  </a:lnTo>
                  <a:lnTo>
                    <a:pt x="0" y="449853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327450" cy="468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Dark Web &amp; Clearnet Sources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3093876" y="5479006"/>
            <a:ext cx="1686610" cy="1723540"/>
            <a:chOff x="0" y="0"/>
            <a:chExt cx="444210" cy="45393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44210" cy="453936"/>
            </a:xfrm>
            <a:custGeom>
              <a:avLst/>
              <a:gdLst/>
              <a:ahLst/>
              <a:cxnLst/>
              <a:rect r="r" b="b" t="t" l="l"/>
              <a:pathLst>
                <a:path h="453936" w="444210">
                  <a:moveTo>
                    <a:pt x="0" y="0"/>
                  </a:moveTo>
                  <a:lnTo>
                    <a:pt x="444210" y="0"/>
                  </a:lnTo>
                  <a:lnTo>
                    <a:pt x="444210" y="453936"/>
                  </a:lnTo>
                  <a:lnTo>
                    <a:pt x="0" y="453936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444210" cy="4729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Investigation Dashboard, Alerts &amp; Reports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2873109" y="5641625"/>
            <a:ext cx="961721" cy="706902"/>
            <a:chOff x="0" y="0"/>
            <a:chExt cx="871658" cy="64070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71658" cy="640703"/>
            </a:xfrm>
            <a:custGeom>
              <a:avLst/>
              <a:gdLst/>
              <a:ahLst/>
              <a:cxnLst/>
              <a:rect r="r" b="b" t="t" l="l"/>
              <a:pathLst>
                <a:path h="640703" w="871658">
                  <a:moveTo>
                    <a:pt x="871658" y="320351"/>
                  </a:moveTo>
                  <a:lnTo>
                    <a:pt x="465258" y="0"/>
                  </a:lnTo>
                  <a:lnTo>
                    <a:pt x="465258" y="203200"/>
                  </a:lnTo>
                  <a:lnTo>
                    <a:pt x="0" y="203200"/>
                  </a:lnTo>
                  <a:lnTo>
                    <a:pt x="0" y="437503"/>
                  </a:lnTo>
                  <a:lnTo>
                    <a:pt x="465258" y="437503"/>
                  </a:lnTo>
                  <a:lnTo>
                    <a:pt x="465258" y="640703"/>
                  </a:lnTo>
                  <a:lnTo>
                    <a:pt x="871658" y="320351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184150"/>
              <a:ext cx="770058" cy="2533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2314959" y="1806703"/>
            <a:ext cx="12482409" cy="3619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5"/>
              </a:lnSpc>
            </a:pPr>
            <a:r>
              <a:rPr lang="en-US" b="true" sz="2679" u="sng">
                <a:solidFill>
                  <a:srgbClr val="0070C0"/>
                </a:solidFill>
                <a:latin typeface="Arial Bold"/>
                <a:ea typeface="Arial Bold"/>
                <a:cs typeface="Arial Bold"/>
                <a:sym typeface="Arial Bold"/>
              </a:rPr>
              <a:t>Technology Stack</a:t>
            </a:r>
          </a:p>
          <a:p>
            <a:pPr algn="l" marL="485013" indent="-242506" lvl="1">
              <a:lnSpc>
                <a:spcPts val="3215"/>
              </a:lnSpc>
              <a:buFont typeface="Arial"/>
              <a:buChar char="•"/>
            </a:pPr>
            <a:r>
              <a:rPr lang="en-US" sz="2679" b="true">
                <a:solidFill>
                  <a:srgbClr val="0070C0"/>
                </a:solidFill>
                <a:latin typeface="Arial Bold"/>
                <a:ea typeface="Arial Bold"/>
                <a:cs typeface="Arial Bold"/>
                <a:sym typeface="Arial Bold"/>
              </a:rPr>
              <a:t>Frontend: </a:t>
            </a:r>
            <a:r>
              <a:rPr lang="en-US" sz="2679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Electron  |  React  |  TypeScript</a:t>
            </a:r>
          </a:p>
          <a:p>
            <a:pPr algn="l" marL="485013" indent="-242506" lvl="1">
              <a:lnSpc>
                <a:spcPts val="3215"/>
              </a:lnSpc>
              <a:buFont typeface="Arial"/>
              <a:buChar char="•"/>
            </a:pPr>
            <a:r>
              <a:rPr lang="en-US" sz="2679" b="true">
                <a:solidFill>
                  <a:srgbClr val="0070C0"/>
                </a:solidFill>
                <a:latin typeface="Arial Bold"/>
                <a:ea typeface="Arial Bold"/>
                <a:cs typeface="Arial Bold"/>
                <a:sym typeface="Arial Bold"/>
              </a:rPr>
              <a:t>Core: </a:t>
            </a:r>
            <a:r>
              <a:rPr lang="en-US" sz="2679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Go</a:t>
            </a:r>
          </a:p>
          <a:p>
            <a:pPr algn="l" marL="485013" indent="-242506" lvl="1">
              <a:lnSpc>
                <a:spcPts val="3215"/>
              </a:lnSpc>
              <a:buFont typeface="Arial"/>
              <a:buChar char="•"/>
            </a:pPr>
            <a:r>
              <a:rPr lang="en-US" sz="2679" b="true">
                <a:solidFill>
                  <a:srgbClr val="0070C0"/>
                </a:solidFill>
                <a:latin typeface="Arial Bold"/>
                <a:ea typeface="Arial Bold"/>
                <a:cs typeface="Arial Bold"/>
                <a:sym typeface="Arial Bold"/>
              </a:rPr>
              <a:t>AI: </a:t>
            </a:r>
            <a:r>
              <a:rPr lang="en-US" sz="2679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Python  |  FastAPI  |  PyTorch  |  Transformers  |  LLMs</a:t>
            </a:r>
          </a:p>
          <a:p>
            <a:pPr algn="l" marL="485013" indent="-242506" lvl="1">
              <a:lnSpc>
                <a:spcPts val="3215"/>
              </a:lnSpc>
              <a:buFont typeface="Arial"/>
              <a:buChar char="•"/>
            </a:pPr>
            <a:r>
              <a:rPr lang="en-US" sz="2679" b="true">
                <a:solidFill>
                  <a:srgbClr val="0070C0"/>
                </a:solidFill>
                <a:latin typeface="Arial Bold"/>
                <a:ea typeface="Arial Bold"/>
                <a:cs typeface="Arial Bold"/>
                <a:sym typeface="Arial Bold"/>
              </a:rPr>
              <a:t>Data: </a:t>
            </a:r>
            <a:r>
              <a:rPr lang="en-US" sz="2679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Neo4j  |  PostgreSQL  |  Elasticsearch</a:t>
            </a:r>
          </a:p>
          <a:p>
            <a:pPr algn="l" marL="485013" indent="-242506" lvl="1">
              <a:lnSpc>
                <a:spcPts val="3215"/>
              </a:lnSpc>
              <a:buFont typeface="Arial"/>
              <a:buChar char="•"/>
            </a:pPr>
            <a:r>
              <a:rPr lang="en-US" sz="2679" b="true">
                <a:solidFill>
                  <a:srgbClr val="0070C0"/>
                </a:solidFill>
                <a:latin typeface="Arial Bold"/>
                <a:ea typeface="Arial Bold"/>
                <a:cs typeface="Arial Bold"/>
                <a:sym typeface="Arial Bold"/>
              </a:rPr>
              <a:t>Collection: </a:t>
            </a:r>
            <a:r>
              <a:rPr lang="en-US" sz="2679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Tor Proxy  |  OSINT APIs  |  Crawlers</a:t>
            </a:r>
          </a:p>
          <a:p>
            <a:pPr algn="l" marL="485013" indent="-242506" lvl="1">
              <a:lnSpc>
                <a:spcPts val="3215"/>
              </a:lnSpc>
              <a:buFont typeface="Arial"/>
              <a:buChar char="•"/>
            </a:pPr>
            <a:r>
              <a:rPr lang="en-US" sz="2679" b="true">
                <a:solidFill>
                  <a:srgbClr val="0070C0"/>
                </a:solidFill>
                <a:latin typeface="Arial Bold"/>
                <a:ea typeface="Arial Bold"/>
                <a:cs typeface="Arial Bold"/>
                <a:sym typeface="Arial Bold"/>
              </a:rPr>
              <a:t>Deployment: </a:t>
            </a:r>
            <a:r>
              <a:rPr lang="en-US" sz="2679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Docker  |  VPS  |  NVIDIA GPU (optional)</a:t>
            </a:r>
          </a:p>
          <a:p>
            <a:pPr algn="l">
              <a:lnSpc>
                <a:spcPts val="3215"/>
              </a:lnSpc>
            </a:pPr>
          </a:p>
          <a:p>
            <a:pPr algn="l">
              <a:lnSpc>
                <a:spcPts val="3215"/>
              </a:lnSpc>
            </a:pPr>
            <a:r>
              <a:rPr lang="en-US" b="true" sz="2679" u="sng">
                <a:solidFill>
                  <a:srgbClr val="0070C0"/>
                </a:solidFill>
                <a:latin typeface="Arial Bold"/>
                <a:ea typeface="Arial Bold"/>
                <a:cs typeface="Arial Bold"/>
                <a:sym typeface="Arial Bold"/>
              </a:rPr>
              <a:t>Implementation Methodology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5161849" y="5645278"/>
            <a:ext cx="961721" cy="706902"/>
            <a:chOff x="0" y="0"/>
            <a:chExt cx="871658" cy="64070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71658" cy="640703"/>
            </a:xfrm>
            <a:custGeom>
              <a:avLst/>
              <a:gdLst/>
              <a:ahLst/>
              <a:cxnLst/>
              <a:rect r="r" b="b" t="t" l="l"/>
              <a:pathLst>
                <a:path h="640703" w="871658">
                  <a:moveTo>
                    <a:pt x="871658" y="320351"/>
                  </a:moveTo>
                  <a:lnTo>
                    <a:pt x="465258" y="0"/>
                  </a:lnTo>
                  <a:lnTo>
                    <a:pt x="465258" y="203200"/>
                  </a:lnTo>
                  <a:lnTo>
                    <a:pt x="0" y="203200"/>
                  </a:lnTo>
                  <a:lnTo>
                    <a:pt x="0" y="437503"/>
                  </a:lnTo>
                  <a:lnTo>
                    <a:pt x="465258" y="437503"/>
                  </a:lnTo>
                  <a:lnTo>
                    <a:pt x="465258" y="640703"/>
                  </a:lnTo>
                  <a:lnTo>
                    <a:pt x="871658" y="320351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184150"/>
              <a:ext cx="770058" cy="2533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7582695" y="5643451"/>
            <a:ext cx="961721" cy="706902"/>
            <a:chOff x="0" y="0"/>
            <a:chExt cx="871658" cy="640703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71658" cy="640703"/>
            </a:xfrm>
            <a:custGeom>
              <a:avLst/>
              <a:gdLst/>
              <a:ahLst/>
              <a:cxnLst/>
              <a:rect r="r" b="b" t="t" l="l"/>
              <a:pathLst>
                <a:path h="640703" w="871658">
                  <a:moveTo>
                    <a:pt x="871658" y="320351"/>
                  </a:moveTo>
                  <a:lnTo>
                    <a:pt x="465258" y="0"/>
                  </a:lnTo>
                  <a:lnTo>
                    <a:pt x="465258" y="203200"/>
                  </a:lnTo>
                  <a:lnTo>
                    <a:pt x="0" y="203200"/>
                  </a:lnTo>
                  <a:lnTo>
                    <a:pt x="0" y="437503"/>
                  </a:lnTo>
                  <a:lnTo>
                    <a:pt x="465258" y="437503"/>
                  </a:lnTo>
                  <a:lnTo>
                    <a:pt x="465258" y="640703"/>
                  </a:lnTo>
                  <a:lnTo>
                    <a:pt x="871658" y="320351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184150"/>
              <a:ext cx="770058" cy="2533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751137" y="5652910"/>
            <a:ext cx="961721" cy="706902"/>
            <a:chOff x="0" y="0"/>
            <a:chExt cx="871658" cy="640703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71658" cy="640703"/>
            </a:xfrm>
            <a:custGeom>
              <a:avLst/>
              <a:gdLst/>
              <a:ahLst/>
              <a:cxnLst/>
              <a:rect r="r" b="b" t="t" l="l"/>
              <a:pathLst>
                <a:path h="640703" w="871658">
                  <a:moveTo>
                    <a:pt x="871658" y="320351"/>
                  </a:moveTo>
                  <a:lnTo>
                    <a:pt x="465258" y="0"/>
                  </a:lnTo>
                  <a:lnTo>
                    <a:pt x="465258" y="203200"/>
                  </a:lnTo>
                  <a:lnTo>
                    <a:pt x="0" y="203200"/>
                  </a:lnTo>
                  <a:lnTo>
                    <a:pt x="0" y="437503"/>
                  </a:lnTo>
                  <a:lnTo>
                    <a:pt x="465258" y="437503"/>
                  </a:lnTo>
                  <a:lnTo>
                    <a:pt x="465258" y="640703"/>
                  </a:lnTo>
                  <a:lnTo>
                    <a:pt x="871658" y="320351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184150"/>
              <a:ext cx="770058" cy="2533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3834830" y="5494510"/>
            <a:ext cx="1327019" cy="1708036"/>
            <a:chOff x="0" y="0"/>
            <a:chExt cx="349503" cy="449853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49503" cy="449853"/>
            </a:xfrm>
            <a:custGeom>
              <a:avLst/>
              <a:gdLst/>
              <a:ahLst/>
              <a:cxnLst/>
              <a:rect r="r" b="b" t="t" l="l"/>
              <a:pathLst>
                <a:path h="449853" w="349503">
                  <a:moveTo>
                    <a:pt x="0" y="0"/>
                  </a:moveTo>
                  <a:lnTo>
                    <a:pt x="349503" y="0"/>
                  </a:lnTo>
                  <a:lnTo>
                    <a:pt x="349503" y="449853"/>
                  </a:lnTo>
                  <a:lnTo>
                    <a:pt x="0" y="449853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19050"/>
              <a:ext cx="349503" cy="468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Secure Automated Collection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6076249" y="5505795"/>
            <a:ext cx="1506445" cy="1708036"/>
            <a:chOff x="0" y="0"/>
            <a:chExt cx="396759" cy="449853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96759" cy="449853"/>
            </a:xfrm>
            <a:custGeom>
              <a:avLst/>
              <a:gdLst/>
              <a:ahLst/>
              <a:cxnLst/>
              <a:rect r="r" b="b" t="t" l="l"/>
              <a:pathLst>
                <a:path h="449853" w="396759">
                  <a:moveTo>
                    <a:pt x="0" y="0"/>
                  </a:moveTo>
                  <a:lnTo>
                    <a:pt x="396759" y="0"/>
                  </a:lnTo>
                  <a:lnTo>
                    <a:pt x="396759" y="449853"/>
                  </a:lnTo>
                  <a:lnTo>
                    <a:pt x="0" y="449853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396759" cy="468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Profile Construction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8522356" y="5494510"/>
            <a:ext cx="1243287" cy="1708036"/>
            <a:chOff x="0" y="0"/>
            <a:chExt cx="327450" cy="449853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27450" cy="449853"/>
            </a:xfrm>
            <a:custGeom>
              <a:avLst/>
              <a:gdLst/>
              <a:ahLst/>
              <a:cxnLst/>
              <a:rect r="r" b="b" t="t" l="l"/>
              <a:pathLst>
                <a:path h="449853" w="327450">
                  <a:moveTo>
                    <a:pt x="0" y="0"/>
                  </a:moveTo>
                  <a:lnTo>
                    <a:pt x="327450" y="0"/>
                  </a:lnTo>
                  <a:lnTo>
                    <a:pt x="327450" y="449853"/>
                  </a:lnTo>
                  <a:lnTo>
                    <a:pt x="0" y="449853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9050"/>
              <a:ext cx="327450" cy="468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Multi-Model AI analysis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0680044" y="5494510"/>
            <a:ext cx="1499433" cy="1708036"/>
            <a:chOff x="0" y="0"/>
            <a:chExt cx="394912" cy="449853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94912" cy="449853"/>
            </a:xfrm>
            <a:custGeom>
              <a:avLst/>
              <a:gdLst/>
              <a:ahLst/>
              <a:cxnLst/>
              <a:rect r="r" b="b" t="t" l="l"/>
              <a:pathLst>
                <a:path h="449853" w="394912">
                  <a:moveTo>
                    <a:pt x="0" y="0"/>
                  </a:moveTo>
                  <a:lnTo>
                    <a:pt x="394912" y="0"/>
                  </a:lnTo>
                  <a:lnTo>
                    <a:pt x="394912" y="449853"/>
                  </a:lnTo>
                  <a:lnTo>
                    <a:pt x="0" y="449853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19050"/>
              <a:ext cx="394912" cy="468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Knowledge Graph Construction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2144679" y="5652910"/>
            <a:ext cx="961721" cy="706902"/>
            <a:chOff x="0" y="0"/>
            <a:chExt cx="871658" cy="640703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871658" cy="640703"/>
            </a:xfrm>
            <a:custGeom>
              <a:avLst/>
              <a:gdLst/>
              <a:ahLst/>
              <a:cxnLst/>
              <a:rect r="r" b="b" t="t" l="l"/>
              <a:pathLst>
                <a:path h="640703" w="871658">
                  <a:moveTo>
                    <a:pt x="871658" y="320351"/>
                  </a:moveTo>
                  <a:lnTo>
                    <a:pt x="465258" y="0"/>
                  </a:lnTo>
                  <a:lnTo>
                    <a:pt x="465258" y="203200"/>
                  </a:lnTo>
                  <a:lnTo>
                    <a:pt x="0" y="203200"/>
                  </a:lnTo>
                  <a:lnTo>
                    <a:pt x="0" y="437503"/>
                  </a:lnTo>
                  <a:lnTo>
                    <a:pt x="465258" y="437503"/>
                  </a:lnTo>
                  <a:lnTo>
                    <a:pt x="465258" y="640703"/>
                  </a:lnTo>
                  <a:lnTo>
                    <a:pt x="871658" y="320351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57" id="57"/>
            <p:cNvSpPr txBox="true"/>
            <p:nvPr/>
          </p:nvSpPr>
          <p:spPr>
            <a:xfrm>
              <a:off x="0" y="184150"/>
              <a:ext cx="770058" cy="2533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545454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433555" y="2003967"/>
            <a:ext cx="14393545" cy="205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5"/>
              </a:lnSpc>
            </a:pPr>
            <a:r>
              <a:rPr lang="en-US" b="true" sz="2679" u="sng">
                <a:solidFill>
                  <a:srgbClr val="0070C0"/>
                </a:solidFill>
                <a:latin typeface="Arial Bold"/>
                <a:ea typeface="Arial Bold"/>
                <a:cs typeface="Arial Bold"/>
                <a:sym typeface="Arial Bold"/>
              </a:rPr>
              <a:t>Feasibility</a:t>
            </a:r>
          </a:p>
          <a:p>
            <a:pPr algn="l" marL="485013" indent="-242506" lvl="1">
              <a:lnSpc>
                <a:spcPts val="3215"/>
              </a:lnSpc>
              <a:buFont typeface="Arial"/>
              <a:buChar char="•"/>
            </a:pPr>
            <a:r>
              <a:rPr lang="en-US" sz="2679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Built on mature, open-source technologies (Electron, Go, Python, Neo4j, AI models)</a:t>
            </a:r>
          </a:p>
          <a:p>
            <a:pPr algn="l" marL="485013" indent="-242506" lvl="1">
              <a:lnSpc>
                <a:spcPts val="3215"/>
              </a:lnSpc>
              <a:buFont typeface="Arial"/>
              <a:buChar char="•"/>
            </a:pPr>
            <a:r>
              <a:rPr lang="en-US" sz="2679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Modular architecture supports phased development and future scaling</a:t>
            </a:r>
          </a:p>
          <a:p>
            <a:pPr algn="l" marL="485013" indent="-242506" lvl="1">
              <a:lnSpc>
                <a:spcPts val="3215"/>
              </a:lnSpc>
              <a:buFont typeface="Arial"/>
              <a:buChar char="•"/>
            </a:pPr>
            <a:r>
              <a:rPr lang="en-US" sz="2679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Automated collection + AI-assisted analysis cuts manual investigation effort</a:t>
            </a:r>
          </a:p>
          <a:p>
            <a:pPr algn="l" marL="485013" indent="-242506" lvl="1">
              <a:lnSpc>
                <a:spcPts val="3215"/>
              </a:lnSpc>
              <a:buFont typeface="Arial"/>
              <a:buChar char="•"/>
            </a:pPr>
            <a:r>
              <a:rPr lang="en-US" sz="2679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Deployable on standard servers, with optional GPU acceleration</a:t>
            </a:r>
          </a:p>
        </p:txBody>
      </p:sp>
      <p:sp>
        <p:nvSpPr>
          <p:cNvPr name="Challenges Heading" id="61"/>
          <p:cNvSpPr txBox="true"/>
          <p:nvPr/>
        </p:nvSpPr>
        <p:spPr>
          <a:xfrm rot="0">
            <a:off x="1433555" y="4180000"/>
            <a:ext cx="14393545" cy="420000"/>
          </a:xfrm>
          <a:prstGeom prst="rect">
            <a:avLst/>
          </a:prstGeom>
        </p:spPr>
        <p:txBody>
          <a:bodyPr anchor="t" rtlCol="false" tIns="0" lIns="0" bIns="0" rIns="0"/>
          <a:lstStyle/>
          <a:p>
            <a:pPr algn="l">
              <a:lnSpc>
                <a:spcPts val="3215"/>
              </a:lnSpc>
            </a:pPr>
            <a:r>
              <a:rPr lang="en-US" b="true" sz="2679" u="sng">
                <a:solidFill>
                  <a:srgbClr val="0070C0"/>
                </a:solidFill>
                <a:latin typeface="Arial Bold"/>
                <a:ea typeface="Arial Bold"/>
                <a:cs typeface="Arial Bold"/>
                <a:sym typeface="Arial Bold"/>
              </a:rPr>
              <a:t>Challenges → Mitigation</a:t>
            </a:r>
          </a:p>
        </p:txBody>
      </p:sp>
      <p:graphicFrame>
        <p:nvGraphicFramePr>
          <p:cNvPr id="62" name="Challenges Table"/>
          <p:cNvGraphicFramePr>
            <a:graphicFrameLocks noGrp="1"/>
          </p:cNvGraphicFramePr>
          <p:nvPr/>
        </p:nvGraphicFramePr>
        <p:xfrm>
          <a:off x="1433555" y="4640000"/>
          <a:ext cx="14393545" cy="3520000"/>
        </p:xfrm>
        <a:graphic>
          <a:graphicData uri="http://schemas.openxmlformats.org/drawingml/2006/table">
            <a:tbl>
              <a:tblPr firstRow="1" bandRow="0"/>
              <a:tblGrid>
                <a:gridCol w="5037740"/>
                <a:gridCol w="9355805"/>
              </a:tblGrid>
              <a:tr h="520000">
                <a:tc>
                  <a:txBody>
                    <a:bodyPr wrap="square" anchor="ctr" lIns="91440" rIns="91440" tIns="36576" bIns="36576"/>
                    <a:lstStyle/>
                    <a:p>
                      <a:pPr algn="l"/>
                      <a:r>
                        <a:rPr lang="en-US" sz="1900" b="1">
                          <a:solidFill>
                            <a:srgbClr val="FFFFFF"/>
                          </a:solidFill>
                          <a:latin typeface="Arial Bold"/>
                          <a:cs typeface="Arial Bold"/>
                        </a:rPr>
                        <a:t>Challenge / Risk</a:t>
                      </a:r>
                    </a:p>
                  </a:txBody>
                  <a:tcPr marL="91440" marR="91440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 wrap="square" anchor="ctr" lIns="91440" rIns="91440" tIns="36576" bIns="36576"/>
                    <a:lstStyle/>
                    <a:p>
                      <a:pPr algn="l"/>
                      <a:r>
                        <a:rPr lang="en-US" sz="1900" b="1">
                          <a:solidFill>
                            <a:srgbClr val="FFFFFF"/>
                          </a:solidFill>
                          <a:latin typeface="Arial Bold"/>
                          <a:cs typeface="Arial Bold"/>
                        </a:rPr>
                        <a:t>Mitigation Strategy</a:t>
                      </a:r>
                    </a:p>
                  </a:txBody>
                  <a:tcPr marL="91440" marR="91440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0070C0"/>
                    </a:solidFill>
                  </a:tcPr>
                </a:tc>
              </a:tr>
              <a:tr h="600000">
                <a:tc>
                  <a:txBody>
                    <a:bodyPr wrap="square" anchor="ctr" lIns="91440" rIns="91440" tIns="36576" bIns="36576"/>
                    <a:lstStyle/>
                    <a:p>
                      <a:pPr algn="l"/>
                      <a:r>
                        <a:rPr lang="en-US" sz="1780" b="1">
                          <a:solidFill>
                            <a:srgbClr val="545454"/>
                          </a:solidFill>
                          <a:latin typeface="Arial Bold"/>
                          <a:cs typeface="Arial Bold"/>
                        </a:rPr>
                        <a:t>Unstable / inaccessible dark-web sources</a:t>
                      </a:r>
                    </a:p>
                  </a:txBody>
                  <a:tcPr marL="91440" marR="91440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E9EDF2"/>
                    </a:solidFill>
                  </a:tcPr>
                </a:tc>
                <a:tc>
                  <a:txBody>
                    <a:bodyPr wrap="square" anchor="ctr" lIns="91440" rIns="91440" tIns="36576" bIns="36576"/>
                    <a:lstStyle/>
                    <a:p>
                      <a:pPr algn="l"/>
                      <a:r>
                        <a:rPr lang="en-US" sz="1780">
                          <a:solidFill>
                            <a:srgbClr val="545454"/>
                          </a:solidFill>
                          <a:latin typeface="Arial"/>
                          <a:cs typeface="Arial"/>
                        </a:rPr>
                        <a:t>Monitoring, retries &amp; source archiving</a:t>
                      </a:r>
                    </a:p>
                  </a:txBody>
                  <a:tcPr marL="91440" marR="91440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E9EDF2"/>
                    </a:solidFill>
                  </a:tcPr>
                </a:tc>
              </a:tr>
              <a:tr h="600000">
                <a:tc>
                  <a:txBody>
                    <a:bodyPr wrap="square" anchor="ctr" lIns="91440" rIns="91440" tIns="36576" bIns="36576"/>
                    <a:lstStyle/>
                    <a:p>
                      <a:pPr algn="l"/>
                      <a:r>
                        <a:rPr lang="en-US" sz="1780" b="1">
                          <a:solidFill>
                            <a:srgbClr val="545454"/>
                          </a:solidFill>
                          <a:latin typeface="Arial Bold"/>
                          <a:cs typeface="Arial Bold"/>
                        </a:rPr>
                        <a:t>False links &amp; deceptive identities</a:t>
                      </a:r>
                    </a:p>
                  </a:txBody>
                  <a:tcPr marL="91440" marR="91440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91440" rIns="91440" tIns="36576" bIns="36576"/>
                    <a:lstStyle/>
                    <a:p>
                      <a:pPr algn="l"/>
                      <a:r>
                        <a:rPr lang="en-US" sz="1780">
                          <a:solidFill>
                            <a:srgbClr val="545454"/>
                          </a:solidFill>
                          <a:latin typeface="Arial"/>
                          <a:cs typeface="Arial"/>
                        </a:rPr>
                        <a:t>Multi-source verification + confidence scoring</a:t>
                      </a:r>
                    </a:p>
                  </a:txBody>
                  <a:tcPr marL="91440" marR="91440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 wrap="square" anchor="ctr" lIns="91440" rIns="91440" tIns="36576" bIns="36576"/>
                    <a:lstStyle/>
                    <a:p>
                      <a:pPr algn="l"/>
                      <a:r>
                        <a:rPr lang="en-US" sz="1780" b="1">
                          <a:solidFill>
                            <a:srgbClr val="545454"/>
                          </a:solidFill>
                          <a:latin typeface="Arial Bold"/>
                          <a:cs typeface="Arial Bold"/>
                        </a:rPr>
                        <a:t>AI errors or hallucinations</a:t>
                      </a:r>
                    </a:p>
                  </a:txBody>
                  <a:tcPr marL="91440" marR="91440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E9EDF2"/>
                    </a:solidFill>
                  </a:tcPr>
                </a:tc>
                <a:tc>
                  <a:txBody>
                    <a:bodyPr wrap="square" anchor="ctr" lIns="91440" rIns="91440" tIns="36576" bIns="36576"/>
                    <a:lstStyle/>
                    <a:p>
                      <a:pPr algn="l"/>
                      <a:r>
                        <a:rPr lang="en-US" sz="1780">
                          <a:solidFill>
                            <a:srgbClr val="545454"/>
                          </a:solidFill>
                          <a:latin typeface="Arial"/>
                          <a:cs typeface="Arial"/>
                        </a:rPr>
                        <a:t>Evidence grounding + cross-validation</a:t>
                      </a:r>
                    </a:p>
                  </a:txBody>
                  <a:tcPr marL="91440" marR="91440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E9EDF2"/>
                    </a:solidFill>
                  </a:tcPr>
                </a:tc>
              </a:tr>
              <a:tr h="600000">
                <a:tc>
                  <a:txBody>
                    <a:bodyPr wrap="square" anchor="ctr" lIns="91440" rIns="91440" tIns="36576" bIns="36576"/>
                    <a:lstStyle/>
                    <a:p>
                      <a:pPr algn="l"/>
                      <a:r>
                        <a:rPr lang="en-US" sz="1780" b="1">
                          <a:solidFill>
                            <a:srgbClr val="545454"/>
                          </a:solidFill>
                          <a:latin typeface="Arial Bold"/>
                          <a:cs typeface="Arial Bold"/>
                        </a:rPr>
                        <a:t>Legal, ethical &amp; privacy concerns</a:t>
                      </a:r>
                    </a:p>
                  </a:txBody>
                  <a:tcPr marL="91440" marR="91440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91440" rIns="91440" tIns="36576" bIns="36576"/>
                    <a:lstStyle/>
                    <a:p>
                      <a:pPr algn="l"/>
                      <a:r>
                        <a:rPr lang="en-US" sz="1780">
                          <a:solidFill>
                            <a:srgbClr val="545454"/>
                          </a:solidFill>
                          <a:latin typeface="Arial"/>
                          <a:cs typeface="Arial"/>
                        </a:rPr>
                        <a:t>RBAC + lawful-source policy + controlled retention</a:t>
                      </a:r>
                    </a:p>
                  </a:txBody>
                  <a:tcPr marL="91440" marR="91440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 wrap="square" anchor="ctr" lIns="91440" rIns="91440" tIns="36576" bIns="36576"/>
                    <a:lstStyle/>
                    <a:p>
                      <a:pPr algn="l"/>
                      <a:r>
                        <a:rPr lang="en-US" sz="1780" b="1">
                          <a:solidFill>
                            <a:srgbClr val="545454"/>
                          </a:solidFill>
                          <a:latin typeface="Arial Bold"/>
                          <a:cs typeface="Arial Bold"/>
                        </a:rPr>
                        <a:t>Sensitive data &amp; system security</a:t>
                      </a:r>
                    </a:p>
                  </a:txBody>
                  <a:tcPr marL="91440" marR="91440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E9EDF2"/>
                    </a:solidFill>
                  </a:tcPr>
                </a:tc>
                <a:tc>
                  <a:txBody>
                    <a:bodyPr wrap="square" anchor="ctr" lIns="91440" rIns="91440" tIns="36576" bIns="36576"/>
                    <a:lstStyle/>
                    <a:p>
                      <a:pPr algn="l"/>
                      <a:r>
                        <a:rPr lang="en-US" sz="1780">
                          <a:solidFill>
                            <a:srgbClr val="545454"/>
                          </a:solidFill>
                          <a:latin typeface="Arial"/>
                          <a:cs typeface="Arial"/>
                        </a:rPr>
                        <a:t>Encryption, isolation + audit logs</a:t>
                      </a:r>
                    </a:p>
                  </a:txBody>
                  <a:tcPr marL="91440" marR="91440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name="Viability Heading" id="63"/>
          <p:cNvSpPr txBox="true"/>
          <p:nvPr/>
        </p:nvSpPr>
        <p:spPr>
          <a:xfrm rot="0">
            <a:off x="1433555" y="8360000"/>
            <a:ext cx="14393545" cy="420000"/>
          </a:xfrm>
          <a:prstGeom prst="rect">
            <a:avLst/>
          </a:prstGeom>
        </p:spPr>
        <p:txBody>
          <a:bodyPr anchor="t" rtlCol="false" tIns="0" lIns="0" bIns="0" rIns="0"/>
          <a:lstStyle/>
          <a:p>
            <a:pPr algn="l">
              <a:lnSpc>
                <a:spcPts val="3215"/>
              </a:lnSpc>
            </a:pPr>
            <a:r>
              <a:rPr lang="en-US" b="true" sz="2679" u="sng">
                <a:solidFill>
                  <a:srgbClr val="0070C0"/>
                </a:solidFill>
                <a:latin typeface="Arial Bold"/>
                <a:ea typeface="Arial Bold"/>
                <a:cs typeface="Arial Bold"/>
                <a:sym typeface="Arial Bold"/>
              </a:rPr>
              <a:t>Viability</a:t>
            </a:r>
          </a:p>
        </p:txBody>
      </p:sp>
      <p:sp>
        <p:nvSpPr>
          <p:cNvPr name="Viability Statement" id="64"/>
          <p:cNvSpPr txBox="true"/>
          <p:nvPr/>
        </p:nvSpPr>
        <p:spPr>
          <a:xfrm rot="0">
            <a:off x="1433555" y="8800000"/>
            <a:ext cx="14393545" cy="500000"/>
          </a:xfrm>
          <a:prstGeom prst="rect">
            <a:avLst/>
          </a:prstGeom>
        </p:spPr>
        <p:txBody>
          <a:bodyPr anchor="ctr" rtlCol="false" tIns="0" lIns="0" bIns="0" rIns="0"/>
          <a:lstStyle/>
          <a:p>
            <a:pPr algn="ctr"/>
            <a:r>
              <a:rPr lang="en-US" b="true" sz="2800">
                <a:solidFill>
                  <a:srgbClr val="0070C0"/>
                </a:solidFill>
                <a:latin typeface="Arial Bold"/>
                <a:ea typeface="Arial Bold"/>
                <a:cs typeface="Arial Bold"/>
                <a:sym typeface="Arial Bold"/>
              </a:rPr>
              <a:t>Prototype → Secure, Organization-Level Threat-Intelligence Platform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227328" y="9532144"/>
            <a:ext cx="4806001" cy="547688"/>
            <a:chOff x="0" y="0"/>
            <a:chExt cx="6408001" cy="7302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B</a:t>
              </a: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ennett University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75612" y="174449"/>
            <a:ext cx="1915887" cy="1249101"/>
            <a:chOff x="0" y="0"/>
            <a:chExt cx="2554516" cy="1665468"/>
          </a:xfrm>
        </p:grpSpPr>
        <p:sp>
          <p:nvSpPr>
            <p:cNvPr name="Freeform 15" id="15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Vulkans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16277553" y="2728152"/>
            <a:ext cx="1963495" cy="1423534"/>
          </a:xfrm>
          <a:custGeom>
            <a:avLst/>
            <a:gdLst/>
            <a:ahLst/>
            <a:cxnLst/>
            <a:rect r="r" b="b" t="t" l="l"/>
            <a:pathLst>
              <a:path h="1423534" w="1963495">
                <a:moveTo>
                  <a:pt x="0" y="0"/>
                </a:moveTo>
                <a:lnTo>
                  <a:pt x="1963494" y="0"/>
                </a:lnTo>
                <a:lnTo>
                  <a:pt x="1963494" y="1423534"/>
                </a:lnTo>
                <a:lnTo>
                  <a:pt x="0" y="142353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6618355" y="6094786"/>
            <a:ext cx="1510489" cy="1495384"/>
          </a:xfrm>
          <a:custGeom>
            <a:avLst/>
            <a:gdLst/>
            <a:ahLst/>
            <a:cxnLst/>
            <a:rect r="r" b="b" t="t" l="l"/>
            <a:pathLst>
              <a:path h="1495384" w="1510489">
                <a:moveTo>
                  <a:pt x="0" y="0"/>
                </a:moveTo>
                <a:lnTo>
                  <a:pt x="1510490" y="0"/>
                </a:lnTo>
                <a:lnTo>
                  <a:pt x="1510490" y="1495384"/>
                </a:lnTo>
                <a:lnTo>
                  <a:pt x="0" y="14953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545454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197668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B</a:t>
              </a: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ennett University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75612" y="359321"/>
            <a:ext cx="1915887" cy="1249101"/>
            <a:chOff x="0" y="0"/>
            <a:chExt cx="2554516" cy="1665468"/>
          </a:xfrm>
        </p:grpSpPr>
        <p:sp>
          <p:nvSpPr>
            <p:cNvPr name="Freeform 14" id="14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Vulkans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15925891" y="2687902"/>
            <a:ext cx="2119012" cy="1674019"/>
          </a:xfrm>
          <a:custGeom>
            <a:avLst/>
            <a:gdLst/>
            <a:ahLst/>
            <a:cxnLst/>
            <a:rect r="r" b="b" t="t" l="l"/>
            <a:pathLst>
              <a:path h="1674019" w="2119012">
                <a:moveTo>
                  <a:pt x="0" y="0"/>
                </a:moveTo>
                <a:lnTo>
                  <a:pt x="2119012" y="0"/>
                </a:lnTo>
                <a:lnTo>
                  <a:pt x="2119012" y="1674019"/>
                </a:lnTo>
                <a:lnTo>
                  <a:pt x="0" y="16740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028700" y="2315845"/>
            <a:ext cx="13895070" cy="5619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5"/>
              </a:lnSpc>
            </a:pPr>
            <a:r>
              <a:rPr lang="en-US" b="true" sz="2679" u="sng">
                <a:solidFill>
                  <a:srgbClr val="0070C0"/>
                </a:solidFill>
                <a:latin typeface="Arial Bold"/>
                <a:ea typeface="Arial Bold"/>
                <a:cs typeface="Arial Bold"/>
                <a:sym typeface="Arial Bold"/>
              </a:rPr>
              <a:t>Potential Impact</a:t>
            </a:r>
          </a:p>
          <a:p>
            <a:pPr algn="l" marL="578611" indent="-289306" lvl="1">
              <a:lnSpc>
                <a:spcPts val="3215"/>
              </a:lnSpc>
              <a:buFont typeface="Arial"/>
              <a:buChar char="•"/>
            </a:pPr>
            <a:r>
              <a:rPr lang="en-US" sz="2679" b="true">
                <a:solidFill>
                  <a:srgbClr val="0070C0"/>
                </a:solidFill>
                <a:latin typeface="Arial Bold"/>
                <a:ea typeface="Arial Bold"/>
                <a:cs typeface="Arial Bold"/>
                <a:sym typeface="Arial Bold"/>
              </a:rPr>
              <a:t>Faster Attribution: </a:t>
            </a:r>
            <a:r>
              <a:rPr lang="en-US" sz="2679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Identify and track threat actors faster.</a:t>
            </a:r>
          </a:p>
          <a:p>
            <a:pPr algn="l" marL="578611" indent="-289306" lvl="1">
              <a:lnSpc>
                <a:spcPts val="3215"/>
              </a:lnSpc>
              <a:buFont typeface="Arial"/>
              <a:buChar char="•"/>
            </a:pPr>
            <a:r>
              <a:rPr lang="en-US" sz="2679" b="true">
                <a:solidFill>
                  <a:srgbClr val="0070C0"/>
                </a:solidFill>
                <a:latin typeface="Arial Bold"/>
                <a:ea typeface="Arial Bold"/>
                <a:cs typeface="Arial Bold"/>
                <a:sym typeface="Arial Bold"/>
              </a:rPr>
              <a:t>Actionable Intelligence: </a:t>
            </a:r>
            <a:r>
              <a:rPr lang="en-US" sz="2679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Converts scattered data into evidence-linked intelligence.</a:t>
            </a:r>
          </a:p>
          <a:p>
            <a:pPr algn="l" marL="578611" indent="-289306" lvl="1">
              <a:lnSpc>
                <a:spcPts val="3215"/>
              </a:lnSpc>
              <a:buFont typeface="Arial"/>
              <a:buChar char="•"/>
            </a:pPr>
            <a:r>
              <a:rPr lang="en-US" sz="2679" b="true">
                <a:solidFill>
                  <a:srgbClr val="0070C0"/>
                </a:solidFill>
                <a:latin typeface="Arial Bold"/>
                <a:ea typeface="Arial Bold"/>
                <a:cs typeface="Arial Bold"/>
                <a:sym typeface="Arial Bold"/>
              </a:rPr>
              <a:t>Higher Accuracy: </a:t>
            </a:r>
            <a:r>
              <a:rPr lang="en-US" sz="2679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AI correlation + confidence scoring improve investigations.</a:t>
            </a:r>
          </a:p>
          <a:p>
            <a:pPr algn="l" marL="578611" indent="-289306" lvl="1">
              <a:lnSpc>
                <a:spcPts val="3215"/>
              </a:lnSpc>
              <a:buFont typeface="Arial"/>
              <a:buChar char="•"/>
            </a:pPr>
            <a:r>
              <a:rPr lang="en-US" sz="2679" b="true">
                <a:solidFill>
                  <a:srgbClr val="0070C0"/>
                </a:solidFill>
                <a:latin typeface="Arial Bold"/>
                <a:ea typeface="Arial Bold"/>
                <a:cs typeface="Arial Bold"/>
                <a:sym typeface="Arial Bold"/>
              </a:rPr>
              <a:t>Early Threat Detection: </a:t>
            </a:r>
            <a:r>
              <a:rPr lang="en-US" sz="2679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Detects cybercrime, illicit trade, fraud &amp; terror-financing networks earlier.</a:t>
            </a:r>
          </a:p>
          <a:p>
            <a:pPr algn="l">
              <a:lnSpc>
                <a:spcPts val="1800"/>
              </a:lnSpc>
            </a:pPr>
          </a:p>
          <a:p>
            <a:pPr algn="l">
              <a:lnSpc>
                <a:spcPts val="3215"/>
              </a:lnSpc>
            </a:pPr>
            <a:r>
              <a:rPr lang="en-US" b="true" sz="2679" u="sng">
                <a:solidFill>
                  <a:srgbClr val="0070C0"/>
                </a:solidFill>
                <a:latin typeface="Arial Bold"/>
                <a:ea typeface="Arial Bold"/>
                <a:cs typeface="Arial Bold"/>
                <a:sym typeface="Arial Bold"/>
              </a:rPr>
              <a:t>Key Benefits</a:t>
            </a:r>
          </a:p>
          <a:p>
            <a:pPr algn="l" marL="485013" indent="-242506" lvl="1">
              <a:lnSpc>
                <a:spcPts val="3215"/>
              </a:lnSpc>
              <a:buFont typeface="Arial"/>
              <a:buChar char="•"/>
            </a:pPr>
            <a:r>
              <a:rPr lang="en-US" sz="2679" b="true">
                <a:solidFill>
                  <a:srgbClr val="0070C0"/>
                </a:solidFill>
                <a:latin typeface="Arial Bold"/>
                <a:ea typeface="Arial Bold"/>
                <a:cs typeface="Arial Bold"/>
                <a:sym typeface="Arial Bold"/>
              </a:rPr>
              <a:t>Social: </a:t>
            </a:r>
            <a:r>
              <a:rPr lang="en-US" sz="2679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Citizen &amp; organizational protection</a:t>
            </a:r>
          </a:p>
          <a:p>
            <a:pPr algn="l" marL="485013" indent="-242506" lvl="1">
              <a:lnSpc>
                <a:spcPts val="3215"/>
              </a:lnSpc>
              <a:buFont typeface="Arial"/>
              <a:buChar char="•"/>
            </a:pPr>
            <a:r>
              <a:rPr lang="en-US" sz="2679" b="true">
                <a:solidFill>
                  <a:srgbClr val="0070C0"/>
                </a:solidFill>
                <a:latin typeface="Arial Bold"/>
                <a:ea typeface="Arial Bold"/>
                <a:cs typeface="Arial Bold"/>
                <a:sym typeface="Arial Bold"/>
              </a:rPr>
              <a:t>Economic: </a:t>
            </a:r>
            <a:r>
              <a:rPr lang="en-US" sz="2679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Lower losses &amp; investigation costs</a:t>
            </a:r>
          </a:p>
          <a:p>
            <a:pPr algn="l" marL="485013" indent="-242506" lvl="1">
              <a:lnSpc>
                <a:spcPts val="3215"/>
              </a:lnSpc>
              <a:buFont typeface="Arial"/>
              <a:buChar char="•"/>
            </a:pPr>
            <a:r>
              <a:rPr lang="en-US" sz="2679" b="true">
                <a:solidFill>
                  <a:srgbClr val="0070C0"/>
                </a:solidFill>
                <a:latin typeface="Arial Bold"/>
                <a:ea typeface="Arial Bold"/>
                <a:cs typeface="Arial Bold"/>
                <a:sym typeface="Arial Bold"/>
              </a:rPr>
              <a:t>Operational: </a:t>
            </a:r>
            <a:r>
              <a:rPr lang="en-US" sz="2679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Faster, data-driven analyst decisions</a:t>
            </a:r>
          </a:p>
          <a:p>
            <a:pPr algn="l" marL="485013" indent="-242506" lvl="1">
              <a:lnSpc>
                <a:spcPts val="3215"/>
              </a:lnSpc>
              <a:buFont typeface="Arial"/>
              <a:buChar char="•"/>
            </a:pPr>
            <a:r>
              <a:rPr lang="en-US" sz="2679" b="true">
                <a:solidFill>
                  <a:srgbClr val="0070C0"/>
                </a:solidFill>
                <a:latin typeface="Arial Bold"/>
                <a:ea typeface="Arial Bold"/>
                <a:cs typeface="Arial Bold"/>
                <a:sym typeface="Arial Bold"/>
              </a:rPr>
              <a:t>National Security: </a:t>
            </a:r>
            <a:r>
              <a:rPr lang="en-US" sz="2679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Stronger threat monitoring &amp; intelligence sharing</a:t>
            </a:r>
          </a:p>
          <a:p>
            <a:pPr algn="l" marL="485013" indent="-242506" lvl="1">
              <a:lnSpc>
                <a:spcPts val="3215"/>
              </a:lnSpc>
              <a:buFont typeface="Arial"/>
              <a:buChar char="•"/>
            </a:pPr>
            <a:r>
              <a:rPr lang="en-US" sz="2679" b="true">
                <a:solidFill>
                  <a:srgbClr val="0070C0"/>
                </a:solidFill>
                <a:latin typeface="Arial Bold"/>
                <a:ea typeface="Arial Bold"/>
                <a:cs typeface="Arial Bold"/>
                <a:sym typeface="Arial Bold"/>
              </a:rPr>
              <a:t>Environmental: </a:t>
            </a:r>
            <a:r>
              <a:rPr lang="en-US" sz="2679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Efficient, scalable processing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6229573" y="5409671"/>
            <a:ext cx="1511648" cy="1889560"/>
          </a:xfrm>
          <a:custGeom>
            <a:avLst/>
            <a:gdLst/>
            <a:ahLst/>
            <a:cxnLst/>
            <a:rect r="r" b="b" t="t" l="l"/>
            <a:pathLst>
              <a:path h="1889560" w="1511648">
                <a:moveTo>
                  <a:pt x="0" y="0"/>
                </a:moveTo>
                <a:lnTo>
                  <a:pt x="1511648" y="0"/>
                </a:lnTo>
                <a:lnTo>
                  <a:pt x="1511648" y="1889561"/>
                </a:lnTo>
                <a:lnTo>
                  <a:pt x="0" y="188956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093935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B</a:t>
              </a: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ennett University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75612" y="359321"/>
            <a:ext cx="1915887" cy="1249101"/>
            <a:chOff x="0" y="0"/>
            <a:chExt cx="2554516" cy="1665468"/>
          </a:xfrm>
        </p:grpSpPr>
        <p:sp>
          <p:nvSpPr>
            <p:cNvPr name="Freeform 14" id="14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Vulkans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0" y="7513367"/>
            <a:ext cx="1808936" cy="2021158"/>
          </a:xfrm>
          <a:custGeom>
            <a:avLst/>
            <a:gdLst/>
            <a:ahLst/>
            <a:cxnLst/>
            <a:rect r="r" b="b" t="t" l="l"/>
            <a:pathLst>
              <a:path h="2021158" w="1808936">
                <a:moveTo>
                  <a:pt x="0" y="0"/>
                </a:moveTo>
                <a:lnTo>
                  <a:pt x="1808936" y="0"/>
                </a:lnTo>
                <a:lnTo>
                  <a:pt x="1808936" y="2021158"/>
                </a:lnTo>
                <a:lnTo>
                  <a:pt x="0" y="20211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028700" y="2229202"/>
            <a:ext cx="14936470" cy="290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b="true" sz="2679" u="sng">
                <a:solidFill>
                  <a:srgbClr val="0070C0"/>
                </a:solidFill>
                <a:latin typeface="Arial Bold"/>
                <a:ea typeface="Arial Bold"/>
                <a:cs typeface="Arial Bold"/>
                <a:sym typeface="Arial Bold"/>
              </a:rPr>
              <a:t>Research Foundations</a:t>
            </a:r>
          </a:p>
          <a:p>
            <a:pPr algn="l" marL="485013" indent="-242506" lvl="1">
              <a:lnSpc>
                <a:spcPts val="2900"/>
              </a:lnSpc>
              <a:buFont typeface="Arial"/>
              <a:buChar char="•"/>
            </a:pPr>
            <a:r>
              <a:rPr lang="en-US" sz="2000" b="true" u="sng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  <a:hlinkClick r:id="rId7" tooltip="https://www.europol.europa.eu/publications-events/main-reports/iocta-report"/>
              </a:rPr>
              <a:t>Europol IOCTA</a:t>
            </a:r>
            <a:r>
              <a:rPr lang="en-US" sz="2000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 — Research on dark-web-enabled cybercrime &amp; emerging threats</a:t>
            </a:r>
          </a:p>
          <a:p>
            <a:pPr algn="l" marL="485013" indent="-242506" lvl="1">
              <a:lnSpc>
                <a:spcPts val="2900"/>
              </a:lnSpc>
              <a:buFont typeface="Arial"/>
              <a:buChar char="•"/>
            </a:pPr>
            <a:r>
              <a:rPr lang="en-US" sz="2000" b="true" u="sng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  <a:hlinkClick r:id="rId8" tooltip="https://spec.torproject.org/rend-spec/protocol-overview.html"/>
              </a:rPr>
              <a:t>Tor Project Specifications</a:t>
            </a:r>
            <a:r>
              <a:rPr lang="en-US" sz="2000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 — Onion-service architecture &amp; protocols</a:t>
            </a:r>
          </a:p>
          <a:p>
            <a:pPr algn="l" marL="485013" indent="-242506" lvl="1">
              <a:lnSpc>
                <a:spcPts val="2900"/>
              </a:lnSpc>
              <a:buFont typeface="Arial"/>
              <a:buChar char="•"/>
            </a:pPr>
            <a:r>
              <a:rPr lang="en-US" sz="2000" b="true" u="sng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  <a:hlinkClick r:id="rId9" tooltip="https://proceedings.neurips.cc/paper_files/paper/2022/hash/64008fa30cba9b4d1ab1bd3bd3d57d61-Abstract-Datasets_and_Benchmarks.html"/>
              </a:rPr>
              <a:t>VeriDark – NeurIPS 2022</a:t>
            </a:r>
            <a:r>
              <a:rPr lang="en-US" sz="2000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 — Benchmark for dark-web authorship verification</a:t>
            </a:r>
          </a:p>
          <a:p>
            <a:pPr algn="l" marL="485013" indent="-242506" lvl="1">
              <a:lnSpc>
                <a:spcPts val="2900"/>
              </a:lnSpc>
              <a:buFont typeface="Arial"/>
              <a:buChar char="•"/>
            </a:pPr>
            <a:r>
              <a:rPr lang="en-US" sz="2000" b="true" u="sng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  <a:hlinkClick r:id="rId10" tooltip="https://aclanthology.org/2023.acl-long.415/"/>
              </a:rPr>
              <a:t>DarkBERT – ACL 2023</a:t>
            </a:r>
            <a:r>
              <a:rPr lang="en-US" sz="2000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 — Domain-specific language model trained on dark-web data</a:t>
            </a:r>
          </a:p>
          <a:p>
            <a:pPr algn="l" marL="485013" indent="-242506" lvl="1">
              <a:lnSpc>
                <a:spcPts val="2900"/>
              </a:lnSpc>
              <a:buFont typeface="Arial"/>
              <a:buChar char="•"/>
            </a:pPr>
            <a:r>
              <a:rPr lang="en-US" sz="2000" b="true" u="sng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  <a:hlinkClick r:id="rId11" tooltip="https://attack.mitre.org"/>
              </a:rPr>
              <a:t>MITRE ATT&amp;CK</a:t>
            </a:r>
            <a:r>
              <a:rPr lang="en-US" sz="2000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 — Knowledge base for threat actors, tactics &amp; techniques</a:t>
            </a:r>
          </a:p>
          <a:p>
            <a:pPr algn="l" marL="485013" indent="-242506" lvl="1">
              <a:lnSpc>
                <a:spcPts val="2900"/>
              </a:lnSpc>
              <a:buFont typeface="Arial"/>
              <a:buChar char="•"/>
            </a:pPr>
            <a:r>
              <a:rPr lang="en-US" sz="2000" b="true" u="sng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  <a:hlinkClick r:id="rId12" tooltip="https://neo4j.com/use-cases/fraud-detection/"/>
              </a:rPr>
              <a:t>Neo4j Graph Technology</a:t>
            </a:r>
            <a:r>
              <a:rPr lang="en-US" sz="2000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 — Reference for entity relationships &amp; network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DAHVDIuEqD4</dc:identifier>
  <dcterms:modified xsi:type="dcterms:W3CDTF">2011-08-01T06:04:30Z</dcterms:modified>
  <cp:revision>1</cp:revision>
  <dc:title>Copy of SIH2026-IDEA-Presentation-Format.pptx</dc:title>
</cp:coreProperties>
</file>